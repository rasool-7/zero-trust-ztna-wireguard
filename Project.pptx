
<file path=[Content_Types].xml><?xml version="1.0" encoding="utf-8"?>
<Types xmlns="http://schemas.openxmlformats.org/package/2006/content-types">
  <Default Extension="png" ContentType="image/png"/>
  <Default Extension="bin" ContentType="image/unknown"/>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22"/>
  </p:notesMasterIdLst>
  <p:sldIdLst>
    <p:sldId id="256" r:id="rId2"/>
    <p:sldId id="257" r:id="rId3"/>
    <p:sldId id="258" r:id="rId4"/>
    <p:sldId id="260" r:id="rId5"/>
    <p:sldId id="263" r:id="rId6"/>
    <p:sldId id="265" r:id="rId7"/>
    <p:sldId id="289" r:id="rId8"/>
    <p:sldId id="290" r:id="rId9"/>
    <p:sldId id="299" r:id="rId10"/>
    <p:sldId id="293" r:id="rId11"/>
    <p:sldId id="276" r:id="rId12"/>
    <p:sldId id="292" r:id="rId13"/>
    <p:sldId id="294" r:id="rId14"/>
    <p:sldId id="295" r:id="rId15"/>
    <p:sldId id="296" r:id="rId16"/>
    <p:sldId id="297" r:id="rId17"/>
    <p:sldId id="298" r:id="rId18"/>
    <p:sldId id="300" r:id="rId19"/>
    <p:sldId id="301" r:id="rId20"/>
    <p:sldId id="28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5159" autoAdjust="0"/>
  </p:normalViewPr>
  <p:slideViewPr>
    <p:cSldViewPr snapToGrid="0">
      <p:cViewPr varScale="1">
        <p:scale>
          <a:sx n="48" d="100"/>
          <a:sy n="48" d="100"/>
        </p:scale>
        <p:origin x="14" y="2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عنصر نائب للتاريخ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060B1C-6121-4E12-B0A3-6897FC637676}" type="datetimeFigureOut">
              <a:rPr lang="en-US" smtClean="0"/>
              <a:t>8/7/2025</a:t>
            </a:fld>
            <a:endParaRPr lang="en-US"/>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6" name="عنصر نائب للتذييل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عنصر نائب لرقم الشريحة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16A0CE-01F1-4403-B5CD-AFD94F53B286}" type="slidenum">
              <a:rPr lang="en-US" smtClean="0"/>
              <a:t>‹#›</a:t>
            </a:fld>
            <a:endParaRPr lang="en-US"/>
          </a:p>
        </p:txBody>
      </p:sp>
    </p:spTree>
    <p:extLst>
      <p:ext uri="{BB962C8B-B14F-4D97-AF65-F5344CB8AC3E}">
        <p14:creationId xmlns:p14="http://schemas.microsoft.com/office/powerpoint/2010/main" val="1226050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a:p>
        </p:txBody>
      </p:sp>
      <p:sp>
        <p:nvSpPr>
          <p:cNvPr id="4" name="عنصر نائب لرقم الشريحة 3"/>
          <p:cNvSpPr>
            <a:spLocks noGrp="1"/>
          </p:cNvSpPr>
          <p:nvPr>
            <p:ph type="sldNum" sz="quarter" idx="10"/>
          </p:nvPr>
        </p:nvSpPr>
        <p:spPr/>
        <p:txBody>
          <a:bodyPr/>
          <a:lstStyle/>
          <a:p>
            <a:fld id="{EE16A0CE-01F1-4403-B5CD-AFD94F53B286}" type="slidenum">
              <a:rPr lang="en-US" smtClean="0"/>
              <a:t>1</a:t>
            </a:fld>
            <a:endParaRPr lang="en-US"/>
          </a:p>
        </p:txBody>
      </p:sp>
    </p:spTree>
    <p:extLst>
      <p:ext uri="{BB962C8B-B14F-4D97-AF65-F5344CB8AC3E}">
        <p14:creationId xmlns:p14="http://schemas.microsoft.com/office/powerpoint/2010/main" val="411287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algn="r" rtl="1"/>
            <a:r>
              <a:rPr lang="ar-AE" sz="1200" kern="1200" smtClean="0">
                <a:solidFill>
                  <a:schemeClr val="tx1"/>
                </a:solidFill>
                <a:effectLst/>
                <a:latin typeface="+mn-lt"/>
                <a:ea typeface="+mn-ea"/>
                <a:cs typeface="+mn-cs"/>
              </a:rPr>
              <a:t>لقد تطورت البنى التحتية للمؤسسات والشركات بشكل أصبحت أكثر تعقيداً، حيث يمكن أن تعتمد المؤسسة الواحدة على عدة شبكات داخلية، مكاتب تابعة للمؤسسة مزودة ببنى تحتية محلية عن بعد، موظفين يعملون عن بعد أو متنقلين، أو خدمات سحابية متعددة. أدى هذا التعقيد إلى تجاوز حدود أنظمة الحماية التقليدية القائمة على مفهوم المحيط الشبكي</a:t>
            </a:r>
            <a:r>
              <a:rPr lang="en-US" sz="1200" kern="1200" smtClean="0">
                <a:solidFill>
                  <a:schemeClr val="tx1"/>
                </a:solidFill>
                <a:effectLst/>
                <a:latin typeface="+mn-lt"/>
                <a:ea typeface="+mn-ea"/>
                <a:cs typeface="+mn-cs"/>
              </a:rPr>
              <a:t> Perimeter-Based Security  </a:t>
            </a:r>
            <a:r>
              <a:rPr lang="ar-AE" sz="1200" kern="1200" smtClean="0">
                <a:solidFill>
                  <a:schemeClr val="tx1"/>
                </a:solidFill>
                <a:effectLst/>
                <a:latin typeface="+mn-lt"/>
                <a:ea typeface="+mn-ea"/>
                <a:cs typeface="+mn-cs"/>
              </a:rPr>
              <a:t>التي تستند في عملها على استخدام الجدران النارية، الشبكات الخاصة الافتراضية </a:t>
            </a:r>
            <a:r>
              <a:rPr lang="en-US" sz="1200" kern="1200" smtClean="0">
                <a:solidFill>
                  <a:schemeClr val="tx1"/>
                </a:solidFill>
                <a:effectLst/>
                <a:latin typeface="+mn-lt"/>
                <a:ea typeface="+mn-ea"/>
                <a:cs typeface="+mn-cs"/>
              </a:rPr>
              <a:t>VPNs</a:t>
            </a:r>
            <a:r>
              <a:rPr lang="ar-AE" sz="1200" kern="1200" smtClean="0">
                <a:solidFill>
                  <a:schemeClr val="tx1"/>
                </a:solidFill>
                <a:effectLst/>
                <a:latin typeface="+mn-lt"/>
                <a:ea typeface="+mn-ea"/>
                <a:cs typeface="+mn-cs"/>
              </a:rPr>
              <a:t> والمناطق منزوعة السلاح </a:t>
            </a:r>
            <a:r>
              <a:rPr lang="en-US" sz="1200" kern="1200" smtClean="0">
                <a:solidFill>
                  <a:schemeClr val="tx1"/>
                </a:solidFill>
                <a:effectLst/>
                <a:latin typeface="+mn-lt"/>
                <a:ea typeface="+mn-ea"/>
                <a:cs typeface="+mn-cs"/>
              </a:rPr>
              <a:t>DMZs</a:t>
            </a:r>
            <a:r>
              <a:rPr lang="ar-AE" sz="1200" kern="1200" smtClean="0">
                <a:solidFill>
                  <a:schemeClr val="tx1"/>
                </a:solidFill>
                <a:effectLst/>
                <a:latin typeface="+mn-lt"/>
                <a:ea typeface="+mn-ea"/>
                <a:cs typeface="+mn-cs"/>
              </a:rPr>
              <a:t> لتأمين المحيط الخارجي للشبكة ضد التهديدات، حيث لم يعد للمؤسسة حدود واضحة وسهلة التحديد. </a:t>
            </a:r>
            <a:endParaRPr lang="en-US" dirty="0"/>
          </a:p>
        </p:txBody>
      </p:sp>
      <p:sp>
        <p:nvSpPr>
          <p:cNvPr id="4" name="عنصر نائب لرقم الشريحة 3"/>
          <p:cNvSpPr>
            <a:spLocks noGrp="1"/>
          </p:cNvSpPr>
          <p:nvPr>
            <p:ph type="sldNum" sz="quarter" idx="10"/>
          </p:nvPr>
        </p:nvSpPr>
        <p:spPr/>
        <p:txBody>
          <a:bodyPr/>
          <a:lstStyle/>
          <a:p>
            <a:fld id="{EE16A0CE-01F1-4403-B5CD-AFD94F53B286}" type="slidenum">
              <a:rPr lang="en-US" smtClean="0"/>
              <a:t>3</a:t>
            </a:fld>
            <a:endParaRPr lang="en-US"/>
          </a:p>
        </p:txBody>
      </p:sp>
    </p:spTree>
    <p:extLst>
      <p:ext uri="{BB962C8B-B14F-4D97-AF65-F5344CB8AC3E}">
        <p14:creationId xmlns:p14="http://schemas.microsoft.com/office/powerpoint/2010/main" val="4160358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algn="r" rtl="1"/>
            <a:r>
              <a:rPr lang="ar-AE" sz="1200" kern="1200" dirty="0" smtClean="0">
                <a:solidFill>
                  <a:schemeClr val="tx1"/>
                </a:solidFill>
                <a:effectLst/>
                <a:latin typeface="+mn-lt"/>
                <a:ea typeface="+mn-ea"/>
                <a:cs typeface="+mn-cs"/>
              </a:rPr>
              <a:t>الثقة-الصفرية ليست ذات معمارية محددة بل هي مجموعة من المبادئ التوجيهية لسير العمل، تصميم النظام والعمليات التشغيلية، والتي يمكن استخدامها لتعزيز الوضع الأمني لأي مستوى من التصنيف أو الحساسية</a:t>
            </a:r>
            <a:endParaRPr lang="en-US" sz="1200" kern="1200" dirty="0" smtClean="0">
              <a:solidFill>
                <a:schemeClr val="tx1"/>
              </a:solidFill>
              <a:effectLst/>
              <a:latin typeface="+mn-lt"/>
              <a:ea typeface="+mn-ea"/>
              <a:cs typeface="+mn-cs"/>
            </a:endParaRPr>
          </a:p>
          <a:p>
            <a:pPr algn="r" rtl="1"/>
            <a:endParaRPr lang="en-US" sz="1200" kern="1200" dirty="0" smtClean="0">
              <a:solidFill>
                <a:schemeClr val="tx1"/>
              </a:solidFill>
              <a:effectLst/>
              <a:latin typeface="+mn-lt"/>
              <a:ea typeface="+mn-ea"/>
              <a:cs typeface="+mn-cs"/>
            </a:endParaRPr>
          </a:p>
          <a:p>
            <a:pPr algn="r" rtl="1"/>
            <a:r>
              <a:rPr lang="ar-AE" sz="1200" kern="1200" dirty="0" smtClean="0">
                <a:solidFill>
                  <a:schemeClr val="tx1"/>
                </a:solidFill>
                <a:effectLst/>
                <a:latin typeface="+mn-lt"/>
                <a:ea typeface="+mn-ea"/>
                <a:cs typeface="+mn-cs"/>
              </a:rPr>
              <a:t>يوضح الشكل </a:t>
            </a:r>
            <a:r>
              <a:rPr lang="en-US" sz="1200" kern="1200" dirty="0" smtClean="0">
                <a:solidFill>
                  <a:schemeClr val="tx1"/>
                </a:solidFill>
                <a:effectLst/>
                <a:latin typeface="+mn-lt"/>
                <a:ea typeface="+mn-ea"/>
                <a:cs typeface="+mn-cs"/>
              </a:rPr>
              <a:t>(3)</a:t>
            </a:r>
            <a:r>
              <a:rPr lang="ar-AE" sz="1200" kern="1200" dirty="0" smtClean="0">
                <a:solidFill>
                  <a:schemeClr val="tx1"/>
                </a:solidFill>
                <a:effectLst/>
                <a:latin typeface="+mn-lt"/>
                <a:ea typeface="+mn-ea"/>
                <a:cs typeface="+mn-cs"/>
              </a:rPr>
              <a:t> نموذج مجرد للوصول بحيث يتم طلب وصول الى مورد مؤسسي، يتم منح الوصول عبر مكونين أساسيين: نقطة قرار السياسة، ونقطة تنفيذ السياسة. حيث يجب على النظام التأكد من صحة هوية صاحب الطلب وشرعية الطلب. يقوم </a:t>
            </a:r>
            <a:r>
              <a:rPr lang="en-US" sz="1200" kern="1200" dirty="0" smtClean="0">
                <a:solidFill>
                  <a:schemeClr val="tx1"/>
                </a:solidFill>
                <a:effectLst/>
                <a:latin typeface="+mn-lt"/>
                <a:ea typeface="+mn-ea"/>
                <a:cs typeface="+mn-cs"/>
              </a:rPr>
              <a:t>PDP/PEP</a:t>
            </a:r>
            <a:r>
              <a:rPr lang="ar-AE" sz="1200" kern="1200" dirty="0" smtClean="0">
                <a:solidFill>
                  <a:schemeClr val="tx1"/>
                </a:solidFill>
                <a:effectLst/>
                <a:latin typeface="+mn-lt"/>
                <a:ea typeface="+mn-ea"/>
                <a:cs typeface="+mn-cs"/>
              </a:rPr>
              <a:t> باتخاذ القرار المناسب للسماح بالوصول إلى المورد. </a:t>
            </a:r>
            <a:endParaRPr lang="en-US" sz="1200" kern="1200" dirty="0" smtClean="0">
              <a:solidFill>
                <a:schemeClr val="tx1"/>
              </a:solidFill>
              <a:effectLst/>
              <a:latin typeface="+mn-lt"/>
              <a:ea typeface="+mn-ea"/>
              <a:cs typeface="+mn-cs"/>
            </a:endParaRPr>
          </a:p>
          <a:p>
            <a:pPr algn="r" rtl="1"/>
            <a:endParaRPr lang="en-US" sz="1200" kern="1200" dirty="0" smtClean="0">
              <a:solidFill>
                <a:schemeClr val="tx1"/>
              </a:solidFill>
              <a:effectLst/>
              <a:latin typeface="+mn-lt"/>
              <a:ea typeface="+mn-ea"/>
              <a:cs typeface="+mn-cs"/>
            </a:endParaRPr>
          </a:p>
        </p:txBody>
      </p:sp>
      <p:sp>
        <p:nvSpPr>
          <p:cNvPr id="4" name="عنصر نائب لرقم الشريحة 3"/>
          <p:cNvSpPr>
            <a:spLocks noGrp="1"/>
          </p:cNvSpPr>
          <p:nvPr>
            <p:ph type="sldNum" sz="quarter" idx="10"/>
          </p:nvPr>
        </p:nvSpPr>
        <p:spPr/>
        <p:txBody>
          <a:bodyPr/>
          <a:lstStyle/>
          <a:p>
            <a:fld id="{EE16A0CE-01F1-4403-B5CD-AFD94F53B286}" type="slidenum">
              <a:rPr lang="en-US" smtClean="0"/>
              <a:t>6</a:t>
            </a:fld>
            <a:endParaRPr lang="en-US"/>
          </a:p>
        </p:txBody>
      </p:sp>
    </p:spTree>
    <p:extLst>
      <p:ext uri="{BB962C8B-B14F-4D97-AF65-F5344CB8AC3E}">
        <p14:creationId xmlns:p14="http://schemas.microsoft.com/office/powerpoint/2010/main" val="4507437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algn="r" rtl="1"/>
            <a:r>
              <a:rPr lang="ar-AE" dirty="0" smtClean="0"/>
              <a:t>اعتمدنا على أدوات مفتوحة المصدر لتحقيق نموذج </a:t>
            </a:r>
            <a:r>
              <a:rPr lang="en-US" dirty="0" smtClean="0"/>
              <a:t>ZTNA </a:t>
            </a:r>
            <a:r>
              <a:rPr lang="ar-AE" dirty="0" smtClean="0"/>
              <a:t>عملي بالكامل، مع التركيز على التحقق المستمر والحد الأدنى من الثقة بكل مكون في الشبكة.</a:t>
            </a:r>
            <a:r>
              <a:rPr lang="ar-AE" b="1" dirty="0" smtClean="0"/>
              <a:t/>
            </a:r>
            <a:br>
              <a:rPr lang="ar-AE" b="1" dirty="0" smtClean="0"/>
            </a:br>
            <a:r>
              <a:rPr lang="en-US" b="1" dirty="0" err="1" smtClean="0"/>
              <a:t>Keycloak</a:t>
            </a:r>
            <a:r>
              <a:rPr lang="en-US" dirty="0" smtClean="0"/>
              <a:t>: </a:t>
            </a:r>
            <a:r>
              <a:rPr lang="ar-AE" baseline="0" dirty="0" smtClean="0"/>
              <a:t> نظام المصادقة وإدارة الهوية وإصدار الرموز المميزة</a:t>
            </a:r>
            <a:endParaRPr lang="ar-AE" dirty="0" smtClean="0"/>
          </a:p>
          <a:p>
            <a:pPr algn="r" rtl="1"/>
            <a:r>
              <a:rPr lang="en-US" b="1" dirty="0" smtClean="0"/>
              <a:t>Flask</a:t>
            </a:r>
            <a:r>
              <a:rPr lang="en-US" dirty="0" smtClean="0"/>
              <a:t>: </a:t>
            </a:r>
            <a:r>
              <a:rPr lang="ar-AE" dirty="0" smtClean="0"/>
              <a:t>بوابة الوصول، مسؤولة عن التحقق من الجلسات وتوليد ملفات </a:t>
            </a:r>
            <a:r>
              <a:rPr lang="en-US" dirty="0" smtClean="0"/>
              <a:t>VPN</a:t>
            </a:r>
            <a:r>
              <a:rPr lang="en-US" dirty="0" smtClean="0"/>
              <a:t>.</a:t>
            </a:r>
            <a:r>
              <a:rPr lang="ar-AE" dirty="0" smtClean="0"/>
              <a:t> وهي</a:t>
            </a:r>
            <a:r>
              <a:rPr lang="ar-AE" baseline="0" dirty="0" smtClean="0"/>
              <a:t> عبارة عن</a:t>
            </a:r>
            <a:r>
              <a:rPr lang="en-US" baseline="0" dirty="0" smtClean="0"/>
              <a:t>web….</a:t>
            </a:r>
            <a:r>
              <a:rPr lang="ar-AE" baseline="0" dirty="0" smtClean="0"/>
              <a:t> بلغة بايثون</a:t>
            </a:r>
            <a:endParaRPr lang="en-US" dirty="0" smtClean="0"/>
          </a:p>
          <a:p>
            <a:pPr algn="r" rtl="1"/>
            <a:r>
              <a:rPr lang="en-US" b="1" dirty="0" err="1" smtClean="0"/>
              <a:t>WireGuard</a:t>
            </a:r>
            <a:r>
              <a:rPr lang="en-US" dirty="0" smtClean="0"/>
              <a:t>: </a:t>
            </a:r>
            <a:r>
              <a:rPr lang="ar-AE" baseline="0" dirty="0" smtClean="0"/>
              <a:t> مزود النفق الامن والمشفر </a:t>
            </a:r>
            <a:endParaRPr lang="ar-AE" dirty="0" smtClean="0"/>
          </a:p>
          <a:p>
            <a:pPr algn="r" rtl="1"/>
            <a:r>
              <a:rPr lang="en-US" b="1" dirty="0" smtClean="0"/>
              <a:t>VMware Workstation</a:t>
            </a:r>
            <a:r>
              <a:rPr lang="en-US" dirty="0" smtClean="0"/>
              <a:t>: </a:t>
            </a:r>
            <a:r>
              <a:rPr lang="ar-AE" dirty="0" smtClean="0"/>
              <a:t>بيئة افتراضية معزولة لتطبيق النموذج.</a:t>
            </a:r>
          </a:p>
          <a:p>
            <a:pPr algn="r" rtl="1"/>
            <a:r>
              <a:rPr lang="en-US" b="1" dirty="0" smtClean="0"/>
              <a:t>Google Authenticator</a:t>
            </a:r>
            <a:r>
              <a:rPr lang="en-US" dirty="0" smtClean="0"/>
              <a:t>: </a:t>
            </a:r>
            <a:r>
              <a:rPr lang="ar-AE" baseline="0" dirty="0" smtClean="0"/>
              <a:t> يتم تثبيته على جوال المستخدم لتامين </a:t>
            </a:r>
            <a:r>
              <a:rPr lang="en-US" baseline="0" dirty="0" smtClean="0"/>
              <a:t>MFA</a:t>
            </a:r>
            <a:r>
              <a:rPr lang="ar-AE" baseline="0" dirty="0" smtClean="0"/>
              <a:t> </a:t>
            </a:r>
            <a:endParaRPr lang="en-US" dirty="0" smtClean="0"/>
          </a:p>
          <a:p>
            <a:pPr algn="r" rtl="1"/>
            <a:endParaRPr lang="en-US" dirty="0"/>
          </a:p>
        </p:txBody>
      </p:sp>
      <p:sp>
        <p:nvSpPr>
          <p:cNvPr id="4" name="عنصر نائب لرقم الشريحة 3"/>
          <p:cNvSpPr>
            <a:spLocks noGrp="1"/>
          </p:cNvSpPr>
          <p:nvPr>
            <p:ph type="sldNum" sz="quarter" idx="10"/>
          </p:nvPr>
        </p:nvSpPr>
        <p:spPr/>
        <p:txBody>
          <a:bodyPr/>
          <a:lstStyle/>
          <a:p>
            <a:fld id="{EE16A0CE-01F1-4403-B5CD-AFD94F53B286}" type="slidenum">
              <a:rPr lang="en-US" smtClean="0"/>
              <a:t>11</a:t>
            </a:fld>
            <a:endParaRPr lang="en-US"/>
          </a:p>
        </p:txBody>
      </p:sp>
    </p:spTree>
    <p:extLst>
      <p:ext uri="{BB962C8B-B14F-4D97-AF65-F5344CB8AC3E}">
        <p14:creationId xmlns:p14="http://schemas.microsoft.com/office/powerpoint/2010/main" val="2369596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dirty="0"/>
          </a:p>
        </p:txBody>
      </p:sp>
      <p:sp>
        <p:nvSpPr>
          <p:cNvPr id="4" name="عنصر نائب لرقم الشريحة 3"/>
          <p:cNvSpPr>
            <a:spLocks noGrp="1"/>
          </p:cNvSpPr>
          <p:nvPr>
            <p:ph type="sldNum" sz="quarter" idx="10"/>
          </p:nvPr>
        </p:nvSpPr>
        <p:spPr/>
        <p:txBody>
          <a:bodyPr/>
          <a:lstStyle/>
          <a:p>
            <a:fld id="{EE16A0CE-01F1-4403-B5CD-AFD94F53B286}" type="slidenum">
              <a:rPr lang="en-US" smtClean="0"/>
              <a:t>20</a:t>
            </a:fld>
            <a:endParaRPr lang="en-US"/>
          </a:p>
        </p:txBody>
      </p:sp>
    </p:spTree>
    <p:extLst>
      <p:ext uri="{BB962C8B-B14F-4D97-AF65-F5344CB8AC3E}">
        <p14:creationId xmlns:p14="http://schemas.microsoft.com/office/powerpoint/2010/main" val="2985203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ar-SA"/>
              <a:t>انقر لتحرير نمط العنوان الرئيسي</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ar-SA"/>
              <a:t>انقر لتحرير نمط العنوان الثانوي الرئيسي</a:t>
            </a:r>
            <a:endParaRPr lang="en-US" dirty="0"/>
          </a:p>
        </p:txBody>
      </p:sp>
      <p:sp>
        <p:nvSpPr>
          <p:cNvPr id="4" name="Date Placeholder 3"/>
          <p:cNvSpPr>
            <a:spLocks noGrp="1"/>
          </p:cNvSpPr>
          <p:nvPr>
            <p:ph type="dt" sz="half" idx="10"/>
          </p:nvPr>
        </p:nvSpPr>
        <p:spPr/>
        <p:txBody>
          <a:bodyPr/>
          <a:lstStyle/>
          <a:p>
            <a:fld id="{2FC793ED-D22A-43D8-8E97-DBC32C64023B}" type="datetime1">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25C70E0-C15F-4ED1-8882-54048B2CF1D5}" type="slidenum">
              <a:rPr lang="en-US" smtClean="0"/>
              <a:t>‹#›</a:t>
            </a:fld>
            <a:endParaRPr lang="en-US"/>
          </a:p>
        </p:txBody>
      </p:sp>
    </p:spTree>
    <p:extLst>
      <p:ext uri="{BB962C8B-B14F-4D97-AF65-F5344CB8AC3E}">
        <p14:creationId xmlns:p14="http://schemas.microsoft.com/office/powerpoint/2010/main" val="339626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ar-SA"/>
              <a:t>انقر لتحرير نمط العنوان الرئيسي</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399DDC3D-A723-40FC-96E1-F948ED0AD026}" type="datetime1">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25C70E0-C15F-4ED1-8882-54048B2CF1D5}" type="slidenum">
              <a:rPr lang="en-US" smtClean="0"/>
              <a:t>‹#›</a:t>
            </a:fld>
            <a:endParaRPr lang="en-US"/>
          </a:p>
        </p:txBody>
      </p:sp>
    </p:spTree>
    <p:extLst>
      <p:ext uri="{BB962C8B-B14F-4D97-AF65-F5344CB8AC3E}">
        <p14:creationId xmlns:p14="http://schemas.microsoft.com/office/powerpoint/2010/main" val="1361029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ar-SA"/>
              <a:t>انقر لتحرير نمط العنوان الرئيسي</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النص الرئيسي</a:t>
            </a:r>
          </a:p>
        </p:txBody>
      </p:sp>
      <p:sp>
        <p:nvSpPr>
          <p:cNvPr id="4" name="Date Placeholder 3"/>
          <p:cNvSpPr>
            <a:spLocks noGrp="1"/>
          </p:cNvSpPr>
          <p:nvPr>
            <p:ph type="dt" sz="half" idx="10"/>
          </p:nvPr>
        </p:nvSpPr>
        <p:spPr/>
        <p:txBody>
          <a:bodyPr/>
          <a:lstStyle/>
          <a:p>
            <a:fld id="{1111D027-6E92-4DB9-8644-E042E749A8A2}" type="datetime1">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25C70E0-C15F-4ED1-8882-54048B2CF1D5}" type="slidenum">
              <a:rPr lang="en-US" smtClean="0"/>
              <a:t>‹#›</a:t>
            </a:fld>
            <a:endParaRPr lang="en-US"/>
          </a:p>
        </p:txBody>
      </p:sp>
    </p:spTree>
    <p:extLst>
      <p:ext uri="{BB962C8B-B14F-4D97-AF65-F5344CB8AC3E}">
        <p14:creationId xmlns:p14="http://schemas.microsoft.com/office/powerpoint/2010/main" val="334086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ين">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ar-SA"/>
              <a:t>انقر لتحرير نمط العنوان الرئيسي</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Date Placeholder 4"/>
          <p:cNvSpPr>
            <a:spLocks noGrp="1"/>
          </p:cNvSpPr>
          <p:nvPr>
            <p:ph type="dt" sz="half" idx="10"/>
          </p:nvPr>
        </p:nvSpPr>
        <p:spPr/>
        <p:txBody>
          <a:bodyPr/>
          <a:lstStyle/>
          <a:p>
            <a:fld id="{C97F9097-2CBF-4326-AB6B-7F178DAC021C}" type="datetime1">
              <a:rPr lang="en-US" smtClean="0"/>
              <a:t>8/7/2025</a:t>
            </a:fld>
            <a:endParaRPr lang="en-US"/>
          </a:p>
        </p:txBody>
      </p:sp>
      <p:sp>
        <p:nvSpPr>
          <p:cNvPr id="6" name="Footer Placeholder 5"/>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25C70E0-C15F-4ED1-8882-54048B2CF1D5}" type="slidenum">
              <a:rPr lang="en-US" smtClean="0"/>
              <a:t>‹#›</a:t>
            </a:fld>
            <a:endParaRPr lang="en-US"/>
          </a:p>
        </p:txBody>
      </p:sp>
    </p:spTree>
    <p:extLst>
      <p:ext uri="{BB962C8B-B14F-4D97-AF65-F5344CB8AC3E}">
        <p14:creationId xmlns:p14="http://schemas.microsoft.com/office/powerpoint/2010/main" val="4086492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ar-SA"/>
              <a:t>انقر لتحرير نمط العنوان الرئيسي</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النص الرئيسي</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النص الرئيسي</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7" name="Date Placeholder 6"/>
          <p:cNvSpPr>
            <a:spLocks noGrp="1"/>
          </p:cNvSpPr>
          <p:nvPr>
            <p:ph type="dt" sz="half" idx="10"/>
          </p:nvPr>
        </p:nvSpPr>
        <p:spPr/>
        <p:txBody>
          <a:bodyPr/>
          <a:lstStyle/>
          <a:p>
            <a:fld id="{3C99E8A9-AE9E-4DFA-B30E-C62154126F85}" type="datetime1">
              <a:rPr lang="en-US" smtClean="0"/>
              <a:t>8/7/2025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25C70E0-C15F-4ED1-8882-54048B2CF1D5}" type="slidenum">
              <a:rPr lang="en-US" smtClean="0"/>
              <a:t>‹#›</a:t>
            </a:fld>
            <a:endParaRPr lang="en-US"/>
          </a:p>
        </p:txBody>
      </p:sp>
    </p:spTree>
    <p:extLst>
      <p:ext uri="{BB962C8B-B14F-4D97-AF65-F5344CB8AC3E}">
        <p14:creationId xmlns:p14="http://schemas.microsoft.com/office/powerpoint/2010/main" val="3418123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العنوان الرئيسي</a:t>
            </a:r>
            <a:endParaRPr lang="en-US" dirty="0"/>
          </a:p>
        </p:txBody>
      </p:sp>
      <p:sp>
        <p:nvSpPr>
          <p:cNvPr id="3" name="Date Placeholder 2"/>
          <p:cNvSpPr>
            <a:spLocks noGrp="1"/>
          </p:cNvSpPr>
          <p:nvPr>
            <p:ph type="dt" sz="half" idx="10"/>
          </p:nvPr>
        </p:nvSpPr>
        <p:spPr/>
        <p:txBody>
          <a:bodyPr/>
          <a:lstStyle/>
          <a:p>
            <a:fld id="{FEB63B59-6508-49F6-858E-D688D7B06676}" type="datetime1">
              <a:rPr lang="en-US" smtClean="0"/>
              <a:t>8/7/2025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25C70E0-C15F-4ED1-8882-54048B2CF1D5}" type="slidenum">
              <a:rPr lang="en-US" smtClean="0"/>
              <a:t>‹#›</a:t>
            </a:fld>
            <a:endParaRPr lang="en-US"/>
          </a:p>
        </p:txBody>
      </p:sp>
    </p:spTree>
    <p:extLst>
      <p:ext uri="{BB962C8B-B14F-4D97-AF65-F5344CB8AC3E}">
        <p14:creationId xmlns:p14="http://schemas.microsoft.com/office/powerpoint/2010/main" val="3921953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20B32-05E2-4A43-8709-870B8E85EC8A}" type="datetime1">
              <a:rPr lang="en-US" smtClean="0"/>
              <a:t>8/7/2025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25C70E0-C15F-4ED1-8882-54048B2CF1D5}" type="slidenum">
              <a:rPr lang="en-US" smtClean="0"/>
              <a:t>‹#›</a:t>
            </a:fld>
            <a:endParaRPr lang="en-US"/>
          </a:p>
        </p:txBody>
      </p:sp>
    </p:spTree>
    <p:extLst>
      <p:ext uri="{BB962C8B-B14F-4D97-AF65-F5344CB8AC3E}">
        <p14:creationId xmlns:p14="http://schemas.microsoft.com/office/powerpoint/2010/main" val="834910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ذو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ar-SA"/>
              <a:t>انقر لتحرير نمط العنوان الرئيسي</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النص الرئيسي</a:t>
            </a:r>
          </a:p>
        </p:txBody>
      </p:sp>
      <p:sp>
        <p:nvSpPr>
          <p:cNvPr id="5" name="Date Placeholder 4"/>
          <p:cNvSpPr>
            <a:spLocks noGrp="1"/>
          </p:cNvSpPr>
          <p:nvPr>
            <p:ph type="dt" sz="half" idx="10"/>
          </p:nvPr>
        </p:nvSpPr>
        <p:spPr/>
        <p:txBody>
          <a:bodyPr/>
          <a:lstStyle/>
          <a:p>
            <a:fld id="{8D8971CF-F98A-4DB9-BB55-7292FA9C918E}" type="datetime1">
              <a:rPr lang="en-US" smtClean="0"/>
              <a:t>8/7/2025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25C70E0-C15F-4ED1-8882-54048B2CF1D5}" type="slidenum">
              <a:rPr lang="en-US" smtClean="0"/>
              <a:t>‹#›</a:t>
            </a:fld>
            <a:endParaRPr lang="en-US"/>
          </a:p>
        </p:txBody>
      </p:sp>
    </p:spTree>
    <p:extLst>
      <p:ext uri="{BB962C8B-B14F-4D97-AF65-F5344CB8AC3E}">
        <p14:creationId xmlns:p14="http://schemas.microsoft.com/office/powerpoint/2010/main" val="3977972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ar-SA"/>
              <a:t>انقر لتحرير نمط العنوان الرئيسي</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ar-SA"/>
              <a:t>انقر فوق الأيقونة لإضافة صورة</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النص الرئيسي</a:t>
            </a:r>
          </a:p>
        </p:txBody>
      </p:sp>
      <p:sp>
        <p:nvSpPr>
          <p:cNvPr id="5" name="Date Placeholder 4"/>
          <p:cNvSpPr>
            <a:spLocks noGrp="1"/>
          </p:cNvSpPr>
          <p:nvPr>
            <p:ph type="dt" sz="half" idx="10"/>
          </p:nvPr>
        </p:nvSpPr>
        <p:spPr/>
        <p:txBody>
          <a:bodyPr/>
          <a:lstStyle/>
          <a:p>
            <a:fld id="{E8E8A9B6-6331-468F-8930-D7EE06EB093E}" type="datetime1">
              <a:rPr lang="en-US" smtClean="0"/>
              <a:t>8/7/2025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25C70E0-C15F-4ED1-8882-54048B2CF1D5}" type="slidenum">
              <a:rPr lang="en-US" smtClean="0"/>
              <a:t>‹#›</a:t>
            </a:fld>
            <a:endParaRPr lang="en-US"/>
          </a:p>
        </p:txBody>
      </p:sp>
    </p:spTree>
    <p:extLst>
      <p:ext uri="{BB962C8B-B14F-4D97-AF65-F5344CB8AC3E}">
        <p14:creationId xmlns:p14="http://schemas.microsoft.com/office/powerpoint/2010/main" val="915702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العنوان والتسمية ال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ar-SA"/>
              <a:t>انقر لتحرير نمط العنوان الرئيسي</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النص الرئيسي</a:t>
            </a:r>
          </a:p>
        </p:txBody>
      </p:sp>
      <p:sp>
        <p:nvSpPr>
          <p:cNvPr id="4" name="Date Placeholder 3"/>
          <p:cNvSpPr>
            <a:spLocks noGrp="1"/>
          </p:cNvSpPr>
          <p:nvPr>
            <p:ph type="dt" sz="half" idx="10"/>
          </p:nvPr>
        </p:nvSpPr>
        <p:spPr/>
        <p:txBody>
          <a:bodyPr/>
          <a:lstStyle/>
          <a:p>
            <a:fld id="{69905A39-9A4C-4C5B-855E-D0F6D696688A}" type="datetime1">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25C70E0-C15F-4ED1-8882-54048B2CF1D5}" type="slidenum">
              <a:rPr lang="en-US" smtClean="0"/>
              <a:t>‹#›</a:t>
            </a:fld>
            <a:endParaRPr lang="en-US"/>
          </a:p>
        </p:txBody>
      </p:sp>
    </p:spTree>
    <p:extLst>
      <p:ext uri="{BB962C8B-B14F-4D97-AF65-F5344CB8AC3E}">
        <p14:creationId xmlns:p14="http://schemas.microsoft.com/office/powerpoint/2010/main" val="3959137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اقتباس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ar-SA"/>
              <a:t>انقر لتحرير نمط العنوان الرئيسي</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ar-SA"/>
              <a:t>انقر لتحرير أنماط النص الرئيسي</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النص الرئيسي</a:t>
            </a:r>
          </a:p>
        </p:txBody>
      </p:sp>
      <p:sp>
        <p:nvSpPr>
          <p:cNvPr id="4" name="Date Placeholder 3"/>
          <p:cNvSpPr>
            <a:spLocks noGrp="1"/>
          </p:cNvSpPr>
          <p:nvPr>
            <p:ph type="dt" sz="half" idx="10"/>
          </p:nvPr>
        </p:nvSpPr>
        <p:spPr/>
        <p:txBody>
          <a:bodyPr/>
          <a:lstStyle/>
          <a:p>
            <a:fld id="{B9F8D18C-FBA8-471A-93FD-5D4E34F43689}" type="datetime1">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25C70E0-C15F-4ED1-8882-54048B2CF1D5}"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528625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بطاقة اسم">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ar-SA"/>
              <a:t>انقر لتحرير نمط العنوان الرئيسي</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ar-SA"/>
              <a:t>انقر لتحرير أنماط النص الرئيسي</a:t>
            </a:r>
          </a:p>
        </p:txBody>
      </p:sp>
      <p:sp>
        <p:nvSpPr>
          <p:cNvPr id="5" name="Date Placeholder 4"/>
          <p:cNvSpPr>
            <a:spLocks noGrp="1"/>
          </p:cNvSpPr>
          <p:nvPr>
            <p:ph type="dt" sz="half" idx="10"/>
          </p:nvPr>
        </p:nvSpPr>
        <p:spPr/>
        <p:txBody>
          <a:bodyPr/>
          <a:lstStyle/>
          <a:p>
            <a:fld id="{1A10387E-1988-4644-8241-85F97ECD727C}" type="datetime1">
              <a:rPr lang="en-US" smtClean="0"/>
              <a:t>8/7/2025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25C70E0-C15F-4ED1-8882-54048B2CF1D5}" type="slidenum">
              <a:rPr lang="en-US" smtClean="0"/>
              <a:t>‹#›</a:t>
            </a:fld>
            <a:endParaRPr lang="en-US"/>
          </a:p>
        </p:txBody>
      </p:sp>
    </p:spTree>
    <p:extLst>
      <p:ext uri="{BB962C8B-B14F-4D97-AF65-F5344CB8AC3E}">
        <p14:creationId xmlns:p14="http://schemas.microsoft.com/office/powerpoint/2010/main" val="175893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بطاقة اسم ذات اقتباس">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ar-SA"/>
              <a:t>انقر لتحرير نمط العنوان الرئيسي</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ar-SA"/>
              <a:t>انقر لتحرير أنماط النص الرئيسي</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ar-SA"/>
              <a:t>انقر لتحرير أنماط النص الرئيسي</a:t>
            </a:r>
          </a:p>
        </p:txBody>
      </p:sp>
      <p:sp>
        <p:nvSpPr>
          <p:cNvPr id="5" name="Date Placeholder 4"/>
          <p:cNvSpPr>
            <a:spLocks noGrp="1"/>
          </p:cNvSpPr>
          <p:nvPr>
            <p:ph type="dt" sz="half" idx="10"/>
          </p:nvPr>
        </p:nvSpPr>
        <p:spPr/>
        <p:txBody>
          <a:bodyPr/>
          <a:lstStyle/>
          <a:p>
            <a:fld id="{9AB944C2-12F0-44D6-ABF4-0838D1F87E90}" type="datetime1">
              <a:rPr lang="en-US" smtClean="0"/>
              <a:t>8/7/2025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25C70E0-C15F-4ED1-8882-54048B2CF1D5}"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19980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صواب أو خطأ">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ar-SA"/>
              <a:t>انقر لتحرير نمط العنوان الرئيسي</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ar-SA"/>
              <a:t>انقر لتحرير أنماط النص الرئيسي</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ar-SA"/>
              <a:t>انقر لتحرير أنماط النص الرئيسي</a:t>
            </a:r>
          </a:p>
        </p:txBody>
      </p:sp>
      <p:sp>
        <p:nvSpPr>
          <p:cNvPr id="5" name="Date Placeholder 4"/>
          <p:cNvSpPr>
            <a:spLocks noGrp="1"/>
          </p:cNvSpPr>
          <p:nvPr>
            <p:ph type="dt" sz="half" idx="10"/>
          </p:nvPr>
        </p:nvSpPr>
        <p:spPr/>
        <p:txBody>
          <a:bodyPr/>
          <a:lstStyle/>
          <a:p>
            <a:fld id="{D5A0E027-AC99-412F-B53D-14CB4541D049}" type="datetime1">
              <a:rPr lang="en-US" smtClean="0"/>
              <a:t>8/7/2025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25C70E0-C15F-4ED1-8882-54048B2CF1D5}" type="slidenum">
              <a:rPr lang="en-US" smtClean="0"/>
              <a:t>‹#›</a:t>
            </a:fld>
            <a:endParaRPr lang="en-US"/>
          </a:p>
        </p:txBody>
      </p:sp>
    </p:spTree>
    <p:extLst>
      <p:ext uri="{BB962C8B-B14F-4D97-AF65-F5344CB8AC3E}">
        <p14:creationId xmlns:p14="http://schemas.microsoft.com/office/powerpoint/2010/main" val="7684819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العنوان الرئيسي</a:t>
            </a:r>
            <a:endParaRPr lang="en-US" dirty="0"/>
          </a:p>
        </p:txBody>
      </p:sp>
      <p:sp>
        <p:nvSpPr>
          <p:cNvPr id="3" name="Vertical Text Placeholder 2"/>
          <p:cNvSpPr>
            <a:spLocks noGrp="1"/>
          </p:cNvSpPr>
          <p:nvPr>
            <p:ph type="body" orient="vert" idx="1"/>
          </p:nvPr>
        </p:nvSpPr>
        <p:spPr/>
        <p:txBody>
          <a:bodyPr vert="eaVert" anchor="t"/>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09254785-9890-4DB4-ADED-53EDB93BF252}" type="datetime1">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25C70E0-C15F-4ED1-8882-54048B2CF1D5}" type="slidenum">
              <a:rPr lang="en-US" smtClean="0"/>
              <a:t>‹#›</a:t>
            </a:fld>
            <a:endParaRPr lang="en-US"/>
          </a:p>
        </p:txBody>
      </p:sp>
    </p:spTree>
    <p:extLst>
      <p:ext uri="{BB962C8B-B14F-4D97-AF65-F5344CB8AC3E}">
        <p14:creationId xmlns:p14="http://schemas.microsoft.com/office/powerpoint/2010/main" val="1837221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ar-SA"/>
              <a:t>انقر لتحرير نمط العنوان الرئيسي</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87F9CCD6-9BBF-432C-B88D-28017781E39D}" type="datetime1">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25C70E0-C15F-4ED1-8882-54048B2CF1D5}" type="slidenum">
              <a:rPr lang="en-US" smtClean="0"/>
              <a:t>‹#›</a:t>
            </a:fld>
            <a:endParaRPr lang="en-US"/>
          </a:p>
        </p:txBody>
      </p:sp>
    </p:spTree>
    <p:extLst>
      <p:ext uri="{BB962C8B-B14F-4D97-AF65-F5344CB8AC3E}">
        <p14:creationId xmlns:p14="http://schemas.microsoft.com/office/powerpoint/2010/main" val="3058047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ar-SA"/>
              <a:t>انقر لتحرير نمط العنوان الرئيسي</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BAB4E15-2244-4D70-8F00-B63A4CA1DAA4}" type="datetime1">
              <a:rPr lang="en-US" smtClean="0"/>
              <a:t>8/7/2025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25C70E0-C15F-4ED1-8882-54048B2CF1D5}" type="slidenum">
              <a:rPr lang="en-US" smtClean="0"/>
              <a:t>‹#›</a:t>
            </a:fld>
            <a:endParaRPr lang="en-US"/>
          </a:p>
        </p:txBody>
      </p:sp>
    </p:spTree>
    <p:extLst>
      <p:ext uri="{BB962C8B-B14F-4D97-AF65-F5344CB8AC3E}">
        <p14:creationId xmlns:p14="http://schemas.microsoft.com/office/powerpoint/2010/main" val="162160948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hf hdr="0" ftr="0" dt="0"/>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13" Type="http://schemas.microsoft.com/office/2007/relationships/hdphoto" Target="../media/hdphoto5.wdp"/><Relationship Id="rId3" Type="http://schemas.openxmlformats.org/officeDocument/2006/relationships/image" Target="../media/image1.png"/><Relationship Id="rId7" Type="http://schemas.microsoft.com/office/2007/relationships/hdphoto" Target="../media/hdphoto2.wdp"/><Relationship Id="rId12"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11" Type="http://schemas.microsoft.com/office/2007/relationships/hdphoto" Target="../media/hdphoto4.wdp"/><Relationship Id="rId5" Type="http://schemas.microsoft.com/office/2007/relationships/hdphoto" Target="../media/hdphoto1.wdp"/><Relationship Id="rId10" Type="http://schemas.openxmlformats.org/officeDocument/2006/relationships/image" Target="../media/image8.png"/><Relationship Id="rId4" Type="http://schemas.openxmlformats.org/officeDocument/2006/relationships/image" Target="../media/image5.png"/><Relationship Id="rId9" Type="http://schemas.microsoft.com/office/2007/relationships/hdphoto" Target="../media/hdphoto3.wdp"/></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6.bin"/><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صورة 3" descr="HIAst"/>
          <p:cNvPicPr/>
          <p:nvPr/>
        </p:nvPicPr>
        <p:blipFill>
          <a:blip r:embed="rId3">
            <a:extLst>
              <a:ext uri="{28A0092B-C50C-407E-A947-70E740481C1C}">
                <a14:useLocalDpi xmlns:a14="http://schemas.microsoft.com/office/drawing/2010/main" val="0"/>
              </a:ext>
            </a:extLst>
          </a:blip>
          <a:srcRect/>
          <a:stretch>
            <a:fillRect/>
          </a:stretch>
        </p:blipFill>
        <p:spPr bwMode="auto">
          <a:xfrm>
            <a:off x="210541" y="0"/>
            <a:ext cx="1247036" cy="1283257"/>
          </a:xfrm>
          <a:prstGeom prst="rect">
            <a:avLst/>
          </a:prstGeom>
          <a:gradFill>
            <a:gsLst>
              <a:gs pos="76000">
                <a:schemeClr val="accent2"/>
              </a:gs>
              <a:gs pos="100000">
                <a:schemeClr val="bg2">
                  <a:shade val="98000"/>
                  <a:satMod val="120000"/>
                  <a:lumMod val="98000"/>
                </a:schemeClr>
              </a:gs>
            </a:gsLst>
            <a:lin ang="5400000" scaled="0"/>
          </a:gradFill>
        </p:spPr>
      </p:pic>
      <p:sp>
        <p:nvSpPr>
          <p:cNvPr id="5" name="مربع نص 33"/>
          <p:cNvSpPr txBox="1"/>
          <p:nvPr/>
        </p:nvSpPr>
        <p:spPr>
          <a:xfrm flipH="1">
            <a:off x="6436810" y="270947"/>
            <a:ext cx="5205730" cy="168719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noAutofit/>
          </a:bodyPr>
          <a:lstStyle/>
          <a:p>
            <a:pPr marL="0" marR="0" algn="r" rtl="1">
              <a:spcBef>
                <a:spcPts val="600"/>
              </a:spcBef>
              <a:spcAft>
                <a:spcPts val="0"/>
              </a:spcAft>
            </a:pPr>
            <a:r>
              <a:rPr lang="ar-AE" sz="2400" b="1" dirty="0">
                <a:solidFill>
                  <a:srgbClr val="404040"/>
                </a:solidFill>
                <a:effectLst/>
                <a:latin typeface="Traditional Arabic" panose="02020603050405020304" pitchFamily="18" charset="-78"/>
                <a:ea typeface="Times New Roman" panose="02020603050405020304" pitchFamily="18" charset="0"/>
                <a:cs typeface="Traditional Arabic" panose="02020603050405020304" pitchFamily="18" charset="-78"/>
              </a:rPr>
              <a:t>الجمهورية العربية السورية</a:t>
            </a:r>
          </a:p>
          <a:p>
            <a:pPr marL="0" marR="0" algn="r" rtl="1">
              <a:spcBef>
                <a:spcPts val="600"/>
              </a:spcBef>
              <a:spcAft>
                <a:spcPts val="0"/>
              </a:spcAft>
            </a:pPr>
            <a:r>
              <a:rPr lang="ar-AE" sz="2400" b="1" dirty="0">
                <a:solidFill>
                  <a:srgbClr val="404040"/>
                </a:solidFill>
                <a:latin typeface="Traditional Arabic" panose="02020603050405020304" pitchFamily="18" charset="-78"/>
                <a:ea typeface="Times New Roman" panose="02020603050405020304" pitchFamily="18" charset="0"/>
                <a:cs typeface="Traditional Arabic" panose="02020603050405020304" pitchFamily="18" charset="-78"/>
              </a:rPr>
              <a:t>المعهد العالي للعلوم التطبيقية والتكنولوجيا</a:t>
            </a:r>
          </a:p>
          <a:p>
            <a:pPr marL="0" marR="0" algn="r" rtl="1">
              <a:spcBef>
                <a:spcPts val="600"/>
              </a:spcBef>
              <a:spcAft>
                <a:spcPts val="0"/>
              </a:spcAft>
            </a:pPr>
            <a:r>
              <a:rPr lang="ar-AE" sz="2400" b="1" dirty="0">
                <a:solidFill>
                  <a:srgbClr val="404040"/>
                </a:solidFill>
                <a:effectLst/>
                <a:latin typeface="Traditional Arabic" panose="02020603050405020304" pitchFamily="18" charset="-78"/>
                <a:ea typeface="Times New Roman" panose="02020603050405020304" pitchFamily="18" charset="0"/>
                <a:cs typeface="Traditional Arabic" panose="02020603050405020304" pitchFamily="18" charset="-78"/>
              </a:rPr>
              <a:t>قسم الاتصالات</a:t>
            </a:r>
            <a:r>
              <a:rPr lang="en-US" sz="2400" b="1" dirty="0">
                <a:solidFill>
                  <a:srgbClr val="404040"/>
                </a:solidFill>
                <a:effectLst/>
                <a:latin typeface="Traditional Arabic" panose="02020603050405020304" pitchFamily="18" charset="-78"/>
                <a:ea typeface="Times New Roman" panose="02020603050405020304" pitchFamily="18" charset="0"/>
                <a:cs typeface="Traditional Arabic" panose="02020603050405020304" pitchFamily="18" charset="-78"/>
              </a:rPr>
              <a:t> </a:t>
            </a:r>
            <a:endParaRPr lang="en-US" sz="1600" b="1" dirty="0">
              <a:effectLst/>
              <a:latin typeface="Traditional Arabic" panose="02020603050405020304" pitchFamily="18" charset="-78"/>
              <a:ea typeface="Times New Roman" panose="02020603050405020304" pitchFamily="18" charset="0"/>
              <a:cs typeface="Traditional Arabic" panose="02020603050405020304" pitchFamily="18" charset="-78"/>
            </a:endParaRPr>
          </a:p>
        </p:txBody>
      </p:sp>
      <p:sp>
        <p:nvSpPr>
          <p:cNvPr id="6" name="مربع نص 1"/>
          <p:cNvSpPr txBox="1"/>
          <p:nvPr/>
        </p:nvSpPr>
        <p:spPr>
          <a:xfrm flipH="1">
            <a:off x="1913506" y="1638150"/>
            <a:ext cx="8132618" cy="1880964"/>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0" tIns="0" rIns="0" bIns="0" numCol="1" spcCol="0" rtlCol="0" fromWordArt="0" anchor="t" anchorCtr="0" forceAA="0" compatLnSpc="1">
            <a:prstTxWarp prst="textNoShape">
              <a:avLst/>
            </a:prstTxWarp>
            <a:spAutoFit/>
          </a:bodyPr>
          <a:lstStyle/>
          <a:p>
            <a:pPr algn="ctr" rtl="1">
              <a:lnSpc>
                <a:spcPct val="107000"/>
              </a:lnSpc>
              <a:spcAft>
                <a:spcPts val="800"/>
              </a:spcAft>
            </a:pPr>
            <a:r>
              <a:rPr lang="ar-AE" sz="3600" dirty="0" smtClean="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Traditional Arabic" panose="02020603050405020304" pitchFamily="18" charset="-78"/>
              </a:rPr>
              <a:t>تصميم وتنفيذ معمارية ثقة-صفرية باستخدام أدوات مفتوحة المصدر</a:t>
            </a:r>
          </a:p>
          <a:p>
            <a:pPr algn="ctr" rtl="1">
              <a:lnSpc>
                <a:spcPct val="107000"/>
              </a:lnSpc>
              <a:spcAft>
                <a:spcPts val="800"/>
              </a:spcAft>
            </a:pPr>
            <a:r>
              <a:rPr lang="en-US" sz="3600" b="1" dirty="0" smtClean="0">
                <a:solidFill>
                  <a:srgbClr val="000000"/>
                </a:solidFill>
                <a:effectLst>
                  <a:outerShdw blurRad="38100" dist="19050" dir="2700000" algn="tl">
                    <a:schemeClr val="dk1">
                      <a:alpha val="40000"/>
                    </a:schemeClr>
                  </a:outerShdw>
                </a:effectLst>
                <a:latin typeface="Traditional Arabic" panose="02020603050405020304" pitchFamily="18" charset="-78"/>
                <a:ea typeface="Calibri" panose="020F0502020204030204" pitchFamily="34" charset="0"/>
                <a:cs typeface="Traditional Arabic" panose="02020603050405020304" pitchFamily="18" charset="-78"/>
              </a:rPr>
              <a:t>Implementing </a:t>
            </a:r>
            <a:r>
              <a:rPr lang="en-US" sz="3600" b="1" dirty="0">
                <a:solidFill>
                  <a:srgbClr val="000000"/>
                </a:solidFill>
                <a:effectLst>
                  <a:outerShdw blurRad="38100" dist="19050" dir="2700000" algn="tl">
                    <a:schemeClr val="dk1">
                      <a:alpha val="40000"/>
                    </a:schemeClr>
                  </a:outerShdw>
                </a:effectLst>
                <a:latin typeface="Traditional Arabic" panose="02020603050405020304" pitchFamily="18" charset="-78"/>
                <a:ea typeface="Calibri" panose="020F0502020204030204" pitchFamily="34" charset="0"/>
                <a:cs typeface="Traditional Arabic" panose="02020603050405020304" pitchFamily="18" charset="-78"/>
              </a:rPr>
              <a:t>a Zero-Trust Architecture using open-source tools</a:t>
            </a:r>
            <a:endParaRPr lang="en-US" sz="2000" dirty="0">
              <a:effectLst/>
              <a:latin typeface="Calibri" panose="020F0502020204030204" pitchFamily="34" charset="0"/>
              <a:ea typeface="Calibri" panose="020F0502020204030204" pitchFamily="34" charset="0"/>
              <a:cs typeface="Traditional Arabic" panose="02020603050405020304" pitchFamily="18" charset="-78"/>
            </a:endParaRPr>
          </a:p>
        </p:txBody>
      </p:sp>
      <p:sp>
        <p:nvSpPr>
          <p:cNvPr id="7" name="مربع نص 6"/>
          <p:cNvSpPr txBox="1"/>
          <p:nvPr/>
        </p:nvSpPr>
        <p:spPr>
          <a:xfrm>
            <a:off x="5300302" y="6401147"/>
            <a:ext cx="1765426" cy="369332"/>
          </a:xfrm>
          <a:prstGeom prst="rect">
            <a:avLst/>
          </a:prstGeom>
          <a:noFill/>
        </p:spPr>
        <p:txBody>
          <a:bodyPr wrap="square" rtlCol="0">
            <a:spAutoFit/>
          </a:bodyPr>
          <a:lstStyle/>
          <a:p>
            <a:r>
              <a:rPr lang="ar-AE" dirty="0" smtClean="0">
                <a:solidFill>
                  <a:schemeClr val="tx1">
                    <a:lumMod val="75000"/>
                    <a:lumOff val="25000"/>
                  </a:schemeClr>
                </a:solidFill>
              </a:rPr>
              <a:t>2024-2025</a:t>
            </a:r>
            <a:endParaRPr lang="en-US" dirty="0">
              <a:solidFill>
                <a:schemeClr val="tx1">
                  <a:lumMod val="75000"/>
                  <a:lumOff val="25000"/>
                </a:schemeClr>
              </a:solidFill>
            </a:endParaRPr>
          </a:p>
        </p:txBody>
      </p:sp>
      <p:sp>
        <p:nvSpPr>
          <p:cNvPr id="8" name="مربع نص 7"/>
          <p:cNvSpPr txBox="1"/>
          <p:nvPr/>
        </p:nvSpPr>
        <p:spPr>
          <a:xfrm>
            <a:off x="2704245" y="3735404"/>
            <a:ext cx="6551140" cy="2581156"/>
          </a:xfrm>
          <a:prstGeom prst="rect">
            <a:avLst/>
          </a:prstGeom>
          <a:noFill/>
        </p:spPr>
        <p:txBody>
          <a:bodyPr wrap="square" rtlCol="0">
            <a:spAutoFit/>
          </a:bodyPr>
          <a:lstStyle/>
          <a:p>
            <a:pPr algn="ctr" rtl="1">
              <a:lnSpc>
                <a:spcPct val="107000"/>
              </a:lnSpc>
              <a:spcAft>
                <a:spcPts val="800"/>
              </a:spcAft>
            </a:pPr>
            <a:r>
              <a:rPr lang="ar-SY" dirty="0">
                <a:effectLst/>
                <a:latin typeface="Calibri" panose="020F0502020204030204" pitchFamily="34" charset="0"/>
                <a:ea typeface="Calibri" panose="020F0502020204030204" pitchFamily="34" charset="0"/>
                <a:cs typeface="Andalus" panose="02020603050405020304" pitchFamily="18" charset="-78"/>
              </a:rPr>
              <a:t>إعداد</a:t>
            </a:r>
            <a:endParaRPr lang="en-US" sz="1600" dirty="0">
              <a:effectLst/>
              <a:latin typeface="Calibri" panose="020F0502020204030204" pitchFamily="34" charset="0"/>
              <a:ea typeface="Calibri" panose="020F0502020204030204" pitchFamily="34" charset="0"/>
              <a:cs typeface="Traditional Arabic" panose="02020603050405020304" pitchFamily="18" charset="-78"/>
            </a:endParaRPr>
          </a:p>
          <a:p>
            <a:pPr algn="ctr" rtl="1">
              <a:lnSpc>
                <a:spcPct val="107000"/>
              </a:lnSpc>
              <a:spcAft>
                <a:spcPts val="800"/>
              </a:spcAft>
            </a:pPr>
            <a:r>
              <a:rPr lang="ar-SY" sz="2400" b="1" dirty="0">
                <a:effectLst/>
                <a:latin typeface="Calibri" panose="020F0502020204030204" pitchFamily="34" charset="0"/>
                <a:ea typeface="Calibri" panose="020F0502020204030204" pitchFamily="34" charset="0"/>
                <a:cs typeface="Traditional Arabic" panose="02020603050405020304" pitchFamily="18" charset="-78"/>
              </a:rPr>
              <a:t>رسول رفعت بشر</a:t>
            </a:r>
            <a:endParaRPr lang="en-US" sz="1600" dirty="0">
              <a:effectLst/>
              <a:latin typeface="Calibri" panose="020F0502020204030204" pitchFamily="34" charset="0"/>
              <a:ea typeface="Calibri" panose="020F0502020204030204" pitchFamily="34" charset="0"/>
              <a:cs typeface="Traditional Arabic" panose="02020603050405020304" pitchFamily="18" charset="-78"/>
            </a:endParaRPr>
          </a:p>
          <a:p>
            <a:pPr algn="ctr" rtl="1">
              <a:lnSpc>
                <a:spcPct val="107000"/>
              </a:lnSpc>
              <a:spcAft>
                <a:spcPts val="800"/>
              </a:spcAft>
            </a:pPr>
            <a:r>
              <a:rPr lang="ar-SY" sz="1200" b="1" dirty="0">
                <a:effectLst/>
                <a:latin typeface="Calibri" panose="020F0502020204030204" pitchFamily="34" charset="0"/>
                <a:ea typeface="Calibri" panose="020F0502020204030204" pitchFamily="34" charset="0"/>
                <a:cs typeface="Traditional Arabic" panose="02020603050405020304" pitchFamily="18" charset="-78"/>
              </a:rPr>
              <a:t> </a:t>
            </a:r>
            <a:endParaRPr lang="en-US" sz="1600" dirty="0">
              <a:effectLst/>
              <a:latin typeface="Calibri" panose="020F0502020204030204" pitchFamily="34" charset="0"/>
              <a:ea typeface="Calibri" panose="020F0502020204030204" pitchFamily="34" charset="0"/>
              <a:cs typeface="Traditional Arabic" panose="02020603050405020304" pitchFamily="18" charset="-78"/>
            </a:endParaRPr>
          </a:p>
          <a:p>
            <a:pPr algn="ctr" rtl="1">
              <a:lnSpc>
                <a:spcPct val="107000"/>
              </a:lnSpc>
              <a:spcAft>
                <a:spcPts val="800"/>
              </a:spcAft>
            </a:pPr>
            <a:r>
              <a:rPr lang="ar-SY" dirty="0">
                <a:effectLst/>
                <a:latin typeface="Calibri" panose="020F0502020204030204" pitchFamily="34" charset="0"/>
                <a:ea typeface="Calibri" panose="020F0502020204030204" pitchFamily="34" charset="0"/>
                <a:cs typeface="Andalus" panose="02020603050405020304" pitchFamily="18" charset="-78"/>
              </a:rPr>
              <a:t>إشراف</a:t>
            </a:r>
            <a:endParaRPr lang="en-US" sz="1600" dirty="0">
              <a:effectLst/>
              <a:latin typeface="Calibri" panose="020F0502020204030204" pitchFamily="34" charset="0"/>
              <a:ea typeface="Calibri" panose="020F0502020204030204" pitchFamily="34" charset="0"/>
              <a:cs typeface="Traditional Arabic" panose="02020603050405020304" pitchFamily="18" charset="-78"/>
            </a:endParaRPr>
          </a:p>
          <a:p>
            <a:pPr algn="ctr" rtl="1">
              <a:lnSpc>
                <a:spcPct val="107000"/>
              </a:lnSpc>
              <a:spcAft>
                <a:spcPts val="800"/>
              </a:spcAft>
            </a:pPr>
            <a:r>
              <a:rPr lang="ar-AE" sz="2400" b="1" dirty="0" smtClean="0">
                <a:latin typeface="Calibri" panose="020F0502020204030204" pitchFamily="34" charset="0"/>
                <a:ea typeface="Calibri" panose="020F0502020204030204" pitchFamily="34" charset="0"/>
                <a:cs typeface="Traditional Arabic" panose="02020603050405020304" pitchFamily="18" charset="-78"/>
              </a:rPr>
              <a:t>د. خلدون </a:t>
            </a:r>
            <a:r>
              <a:rPr lang="ar-AE" sz="2400" b="1" dirty="0" err="1" smtClean="0">
                <a:latin typeface="Calibri" panose="020F0502020204030204" pitchFamily="34" charset="0"/>
                <a:ea typeface="Calibri" panose="020F0502020204030204" pitchFamily="34" charset="0"/>
                <a:cs typeface="Traditional Arabic" panose="02020603050405020304" pitchFamily="18" charset="-78"/>
              </a:rPr>
              <a:t>خرزم</a:t>
            </a:r>
            <a:endParaRPr lang="ar-AE" sz="2400" b="1" dirty="0" smtClean="0">
              <a:latin typeface="Calibri" panose="020F0502020204030204" pitchFamily="34" charset="0"/>
              <a:ea typeface="Calibri" panose="020F0502020204030204" pitchFamily="34" charset="0"/>
              <a:cs typeface="Traditional Arabic" panose="02020603050405020304" pitchFamily="18" charset="-78"/>
            </a:endParaRPr>
          </a:p>
          <a:p>
            <a:pPr algn="ctr" rtl="1">
              <a:lnSpc>
                <a:spcPct val="107000"/>
              </a:lnSpc>
              <a:spcAft>
                <a:spcPts val="800"/>
              </a:spcAft>
            </a:pPr>
            <a:r>
              <a:rPr lang="ar-AE" sz="2400" b="1" dirty="0" smtClean="0">
                <a:effectLst/>
                <a:latin typeface="Calibri" panose="020F0502020204030204" pitchFamily="34" charset="0"/>
                <a:ea typeface="Calibri" panose="020F0502020204030204" pitchFamily="34" charset="0"/>
                <a:cs typeface="Traditional Arabic" panose="02020603050405020304" pitchFamily="18" charset="-78"/>
              </a:rPr>
              <a:t>ما. مفيد </a:t>
            </a:r>
            <a:r>
              <a:rPr lang="ar-AE" sz="2400" b="1" dirty="0" err="1" smtClean="0">
                <a:effectLst/>
                <a:latin typeface="Calibri" panose="020F0502020204030204" pitchFamily="34" charset="0"/>
                <a:ea typeface="Calibri" panose="020F0502020204030204" pitchFamily="34" charset="0"/>
                <a:cs typeface="Traditional Arabic" panose="02020603050405020304" pitchFamily="18" charset="-78"/>
              </a:rPr>
              <a:t>دوزكنجي</a:t>
            </a:r>
            <a:endParaRPr lang="en-US" sz="2400" b="1" dirty="0" smtClean="0">
              <a:effectLst/>
              <a:latin typeface="Calibri" panose="020F0502020204030204" pitchFamily="34" charset="0"/>
              <a:ea typeface="Calibri" panose="020F0502020204030204" pitchFamily="34" charset="0"/>
              <a:cs typeface="Traditional Arabic" panose="02020603050405020304" pitchFamily="18" charset="-78"/>
            </a:endParaRPr>
          </a:p>
        </p:txBody>
      </p:sp>
      <p:sp>
        <p:nvSpPr>
          <p:cNvPr id="11" name="عنصر نائب لرقم الشريحة 10"/>
          <p:cNvSpPr>
            <a:spLocks noGrp="1"/>
          </p:cNvSpPr>
          <p:nvPr>
            <p:ph type="sldNum" sz="quarter" idx="12"/>
          </p:nvPr>
        </p:nvSpPr>
        <p:spPr/>
        <p:txBody>
          <a:bodyPr/>
          <a:lstStyle/>
          <a:p>
            <a:fld id="{525C70E0-C15F-4ED1-8882-54048B2CF1D5}" type="slidenum">
              <a:rPr lang="en-US" smtClean="0"/>
              <a:t>1</a:t>
            </a:fld>
            <a:endParaRPr lang="en-US"/>
          </a:p>
        </p:txBody>
      </p:sp>
    </p:spTree>
    <p:extLst>
      <p:ext uri="{BB962C8B-B14F-4D97-AF65-F5344CB8AC3E}">
        <p14:creationId xmlns:p14="http://schemas.microsoft.com/office/powerpoint/2010/main" val="17946726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صورة 6" descr="HIAst"/>
          <p:cNvPicPr/>
          <p:nvPr/>
        </p:nvPicPr>
        <p:blipFill>
          <a:blip r:embed="rId2">
            <a:extLst>
              <a:ext uri="{28A0092B-C50C-407E-A947-70E740481C1C}">
                <a14:useLocalDpi xmlns:a14="http://schemas.microsoft.com/office/drawing/2010/main" val="0"/>
              </a:ext>
            </a:extLst>
          </a:blip>
          <a:srcRect/>
          <a:stretch>
            <a:fillRect/>
          </a:stretch>
        </p:blipFill>
        <p:spPr bwMode="auto">
          <a:xfrm>
            <a:off x="210541" y="0"/>
            <a:ext cx="1247036" cy="1283257"/>
          </a:xfrm>
          <a:prstGeom prst="rect">
            <a:avLst/>
          </a:prstGeom>
          <a:gradFill>
            <a:gsLst>
              <a:gs pos="76000">
                <a:schemeClr val="accent2"/>
              </a:gs>
              <a:gs pos="100000">
                <a:schemeClr val="bg2">
                  <a:shade val="98000"/>
                  <a:satMod val="120000"/>
                  <a:lumMod val="98000"/>
                </a:schemeClr>
              </a:gs>
            </a:gsLst>
            <a:lin ang="5400000" scaled="0"/>
          </a:gradFill>
        </p:spPr>
      </p:pic>
      <p:sp>
        <p:nvSpPr>
          <p:cNvPr id="10" name="مربع نص 9"/>
          <p:cNvSpPr txBox="1"/>
          <p:nvPr/>
        </p:nvSpPr>
        <p:spPr>
          <a:xfrm>
            <a:off x="3717036" y="191264"/>
            <a:ext cx="4754880" cy="830997"/>
          </a:xfrm>
          <a:prstGeom prst="rect">
            <a:avLst/>
          </a:prstGeom>
          <a:noFill/>
        </p:spPr>
        <p:txBody>
          <a:bodyPr wrap="square" rtlCol="0">
            <a:spAutoFit/>
          </a:bodyPr>
          <a:lstStyle/>
          <a:p>
            <a:pPr algn="ctr" rtl="1"/>
            <a:r>
              <a:rPr lang="ar-AE" sz="4800" dirty="0">
                <a:latin typeface="Aldhabi" panose="01000000000000000000" pitchFamily="2" charset="-78"/>
                <a:cs typeface="Aldhabi" panose="01000000000000000000" pitchFamily="2" charset="-78"/>
              </a:rPr>
              <a:t>محتويات العرض</a:t>
            </a:r>
            <a:endParaRPr lang="en-US" sz="4000" dirty="0">
              <a:latin typeface="Aldhabi" panose="01000000000000000000" pitchFamily="2" charset="-78"/>
              <a:cs typeface="Aldhabi" panose="01000000000000000000" pitchFamily="2" charset="-78"/>
            </a:endParaRPr>
          </a:p>
        </p:txBody>
      </p:sp>
      <p:sp>
        <p:nvSpPr>
          <p:cNvPr id="11" name="مربع نص 10"/>
          <p:cNvSpPr txBox="1"/>
          <p:nvPr/>
        </p:nvSpPr>
        <p:spPr>
          <a:xfrm>
            <a:off x="4939967" y="302359"/>
            <a:ext cx="5367528" cy="6555641"/>
          </a:xfrm>
          <a:prstGeom prst="rect">
            <a:avLst/>
          </a:prstGeom>
          <a:noFill/>
        </p:spPr>
        <p:txBody>
          <a:bodyPr wrap="square" rtlCol="0">
            <a:spAutoFit/>
          </a:bodyPr>
          <a:lstStyle/>
          <a:p>
            <a:pPr marL="342900" indent="-342900" algn="r" rtl="1">
              <a:lnSpc>
                <a:spcPct val="150000"/>
              </a:lnSpc>
              <a:buFont typeface="Wingdings" panose="05000000000000000000" pitchFamily="2" charset="2"/>
              <a:buChar char="v"/>
            </a:pPr>
            <a:r>
              <a:rPr lang="ar-AE" sz="2800" dirty="0">
                <a:latin typeface="Traditional Arabic" panose="02020603050405020304" pitchFamily="18" charset="-78"/>
                <a:cs typeface="Traditional Arabic" panose="02020603050405020304" pitchFamily="18" charset="-78"/>
              </a:rPr>
              <a:t>مقدمة عن المشروع</a:t>
            </a:r>
          </a:p>
          <a:p>
            <a:pPr marL="342900" indent="-342900" algn="r" rtl="1">
              <a:lnSpc>
                <a:spcPct val="150000"/>
              </a:lnSpc>
              <a:buFont typeface="Wingdings" panose="05000000000000000000" pitchFamily="2" charset="2"/>
              <a:buChar char="v"/>
            </a:pPr>
            <a:r>
              <a:rPr lang="ar-AE" sz="2800" dirty="0">
                <a:latin typeface="Traditional Arabic" panose="02020603050405020304" pitchFamily="18" charset="-78"/>
                <a:cs typeface="Traditional Arabic" panose="02020603050405020304" pitchFamily="18" charset="-78"/>
              </a:rPr>
              <a:t>أهداف المشروع</a:t>
            </a:r>
          </a:p>
          <a:p>
            <a:pPr marL="342900" indent="-342900" algn="r" rtl="1">
              <a:lnSpc>
                <a:spcPct val="150000"/>
              </a:lnSpc>
              <a:buFont typeface="Wingdings" panose="05000000000000000000" pitchFamily="2" charset="2"/>
              <a:buChar char="v"/>
            </a:pPr>
            <a:r>
              <a:rPr lang="ar-AE" sz="2800" dirty="0">
                <a:latin typeface="Traditional Arabic" panose="02020603050405020304" pitchFamily="18" charset="-78"/>
                <a:cs typeface="Traditional Arabic" panose="02020603050405020304" pitchFamily="18" charset="-78"/>
              </a:rPr>
              <a:t>المتطلبات الوظيفية</a:t>
            </a:r>
          </a:p>
          <a:p>
            <a:pPr marL="342900" indent="-342900" algn="r" rtl="1">
              <a:lnSpc>
                <a:spcPct val="150000"/>
              </a:lnSpc>
              <a:buFont typeface="Wingdings" panose="05000000000000000000" pitchFamily="2" charset="2"/>
              <a:buChar char="v"/>
            </a:pPr>
            <a:r>
              <a:rPr lang="ar-AE" sz="2800" dirty="0" smtClean="0">
                <a:latin typeface="Traditional Arabic" panose="02020603050405020304" pitchFamily="18" charset="-78"/>
                <a:cs typeface="Traditional Arabic" panose="02020603050405020304" pitchFamily="18" charset="-78"/>
              </a:rPr>
              <a:t>مبادئ الثقة الصفرية</a:t>
            </a:r>
            <a:endParaRPr lang="en-US" sz="2800" dirty="0">
              <a:latin typeface="Traditional Arabic" panose="02020603050405020304" pitchFamily="18" charset="-78"/>
              <a:cs typeface="Traditional Arabic" panose="02020603050405020304" pitchFamily="18" charset="-78"/>
            </a:endParaRPr>
          </a:p>
          <a:p>
            <a:pPr marL="342900" indent="-342900" algn="r" rtl="1">
              <a:lnSpc>
                <a:spcPct val="150000"/>
              </a:lnSpc>
              <a:buFont typeface="Wingdings" panose="05000000000000000000" pitchFamily="2" charset="2"/>
              <a:buChar char="v"/>
            </a:pPr>
            <a:r>
              <a:rPr lang="ar-AE" sz="2800" dirty="0" smtClean="0">
                <a:latin typeface="Traditional Arabic" panose="02020603050405020304" pitchFamily="18" charset="-78"/>
                <a:cs typeface="Traditional Arabic" panose="02020603050405020304" pitchFamily="18" charset="-78"/>
              </a:rPr>
              <a:t>الوصول الشبكي القائم على الثقة الصفرية</a:t>
            </a:r>
            <a:r>
              <a:rPr lang="en-US" sz="2800" dirty="0" smtClean="0">
                <a:latin typeface="Traditional Arabic" panose="02020603050405020304" pitchFamily="18" charset="-78"/>
                <a:cs typeface="Traditional Arabic" panose="02020603050405020304" pitchFamily="18" charset="-78"/>
              </a:rPr>
              <a:t> </a:t>
            </a:r>
            <a:endParaRPr lang="ar-AE" sz="2800" dirty="0" smtClean="0">
              <a:latin typeface="Traditional Arabic" panose="02020603050405020304" pitchFamily="18" charset="-78"/>
              <a:cs typeface="Traditional Arabic" panose="02020603050405020304" pitchFamily="18" charset="-78"/>
            </a:endParaRPr>
          </a:p>
          <a:p>
            <a:pPr marL="342900" indent="-342900" algn="r" rtl="1">
              <a:lnSpc>
                <a:spcPct val="150000"/>
              </a:lnSpc>
              <a:buFont typeface="Wingdings" panose="05000000000000000000" pitchFamily="2" charset="2"/>
              <a:buChar char="v"/>
            </a:pPr>
            <a:r>
              <a:rPr lang="ar-AE" sz="2800" dirty="0" smtClean="0">
                <a:latin typeface="Traditional Arabic" panose="02020603050405020304" pitchFamily="18" charset="-78"/>
                <a:cs typeface="Traditional Arabic" panose="02020603050405020304" pitchFamily="18" charset="-78"/>
              </a:rPr>
              <a:t>تصميم النموذج الأمني المقترح</a:t>
            </a:r>
          </a:p>
          <a:p>
            <a:pPr marL="342900" indent="-342900" algn="r" rtl="1">
              <a:lnSpc>
                <a:spcPct val="150000"/>
              </a:lnSpc>
              <a:buFont typeface="Wingdings" panose="05000000000000000000" pitchFamily="2" charset="2"/>
              <a:buChar char="v"/>
            </a:pPr>
            <a:r>
              <a:rPr lang="ar-AE" sz="2800" dirty="0" smtClean="0">
                <a:latin typeface="Traditional Arabic" panose="02020603050405020304" pitchFamily="18" charset="-78"/>
                <a:cs typeface="Traditional Arabic" panose="02020603050405020304" pitchFamily="18" charset="-78"/>
              </a:rPr>
              <a:t>بيئة </a:t>
            </a:r>
            <a:r>
              <a:rPr lang="ar-AE" sz="2800" dirty="0">
                <a:latin typeface="Traditional Arabic" panose="02020603050405020304" pitchFamily="18" charset="-78"/>
                <a:cs typeface="Traditional Arabic" panose="02020603050405020304" pitchFamily="18" charset="-78"/>
              </a:rPr>
              <a:t>العمل وأدوات التنفيذ</a:t>
            </a:r>
          </a:p>
          <a:p>
            <a:pPr marL="342900" indent="-342900" algn="r" rtl="1">
              <a:lnSpc>
                <a:spcPct val="150000"/>
              </a:lnSpc>
              <a:buFont typeface="Wingdings" panose="05000000000000000000" pitchFamily="2" charset="2"/>
              <a:buChar char="v"/>
            </a:pPr>
            <a:r>
              <a:rPr lang="ar-AE" sz="2800" dirty="0" smtClean="0">
                <a:latin typeface="Traditional Arabic" panose="02020603050405020304" pitchFamily="18" charset="-78"/>
                <a:cs typeface="Traditional Arabic" panose="02020603050405020304" pitchFamily="18" charset="-78"/>
              </a:rPr>
              <a:t>التنفيذ العملي </a:t>
            </a:r>
          </a:p>
          <a:p>
            <a:pPr marL="342900" indent="-342900" algn="r" rtl="1">
              <a:lnSpc>
                <a:spcPct val="150000"/>
              </a:lnSpc>
              <a:buFont typeface="Wingdings" panose="05000000000000000000" pitchFamily="2" charset="2"/>
              <a:buChar char="v"/>
            </a:pPr>
            <a:r>
              <a:rPr lang="ar-AE" sz="2800" dirty="0" smtClean="0">
                <a:latin typeface="Traditional Arabic" panose="02020603050405020304" pitchFamily="18" charset="-78"/>
                <a:cs typeface="Traditional Arabic" panose="02020603050405020304" pitchFamily="18" charset="-78"/>
              </a:rPr>
              <a:t>نتائج اختبار النموذج الأمني</a:t>
            </a:r>
          </a:p>
          <a:p>
            <a:pPr marL="342900" indent="-342900" algn="r" rtl="1">
              <a:lnSpc>
                <a:spcPct val="150000"/>
              </a:lnSpc>
              <a:buFont typeface="Wingdings" panose="05000000000000000000" pitchFamily="2" charset="2"/>
              <a:buChar char="v"/>
            </a:pPr>
            <a:r>
              <a:rPr lang="ar-AE" sz="2800" dirty="0" smtClean="0">
                <a:latin typeface="Traditional Arabic" panose="02020603050405020304" pitchFamily="18" charset="-78"/>
                <a:cs typeface="Traditional Arabic" panose="02020603050405020304" pitchFamily="18" charset="-78"/>
              </a:rPr>
              <a:t>الخاتمة والآفاق المستقبلية</a:t>
            </a:r>
            <a:endParaRPr lang="ar-AE" sz="2400" dirty="0"/>
          </a:p>
        </p:txBody>
      </p:sp>
      <p:sp>
        <p:nvSpPr>
          <p:cNvPr id="14" name="عنصر نائب لرقم الشريحة 13"/>
          <p:cNvSpPr>
            <a:spLocks noGrp="1"/>
          </p:cNvSpPr>
          <p:nvPr>
            <p:ph type="sldNum" sz="quarter" idx="12"/>
          </p:nvPr>
        </p:nvSpPr>
        <p:spPr/>
        <p:txBody>
          <a:bodyPr/>
          <a:lstStyle/>
          <a:p>
            <a:fld id="{525C70E0-C15F-4ED1-8882-54048B2CF1D5}" type="slidenum">
              <a:rPr lang="en-US" smtClean="0"/>
              <a:t>2</a:t>
            </a:fld>
            <a:endParaRPr lang="en-US"/>
          </a:p>
        </p:txBody>
      </p:sp>
    </p:spTree>
    <p:extLst>
      <p:ext uri="{BB962C8B-B14F-4D97-AF65-F5344CB8AC3E}">
        <p14:creationId xmlns:p14="http://schemas.microsoft.com/office/powerpoint/2010/main" val="26155802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صورة 12" descr="HIAst"/>
          <p:cNvPicPr/>
          <p:nvPr/>
        </p:nvPicPr>
        <p:blipFill>
          <a:blip r:embed="rId3">
            <a:extLst>
              <a:ext uri="{28A0092B-C50C-407E-A947-70E740481C1C}">
                <a14:useLocalDpi xmlns:a14="http://schemas.microsoft.com/office/drawing/2010/main" val="0"/>
              </a:ext>
            </a:extLst>
          </a:blip>
          <a:srcRect/>
          <a:stretch>
            <a:fillRect/>
          </a:stretch>
        </p:blipFill>
        <p:spPr bwMode="auto">
          <a:xfrm>
            <a:off x="210541" y="0"/>
            <a:ext cx="1247036" cy="1283257"/>
          </a:xfrm>
          <a:prstGeom prst="rect">
            <a:avLst/>
          </a:prstGeom>
          <a:gradFill>
            <a:gsLst>
              <a:gs pos="76000">
                <a:schemeClr val="accent2"/>
              </a:gs>
              <a:gs pos="100000">
                <a:schemeClr val="bg2">
                  <a:shade val="98000"/>
                  <a:satMod val="120000"/>
                  <a:lumMod val="98000"/>
                </a:schemeClr>
              </a:gs>
            </a:gsLst>
            <a:lin ang="5400000" scaled="0"/>
          </a:gradFill>
        </p:spPr>
      </p:pic>
      <p:sp>
        <p:nvSpPr>
          <p:cNvPr id="14" name="مربع نص 13"/>
          <p:cNvSpPr txBox="1"/>
          <p:nvPr/>
        </p:nvSpPr>
        <p:spPr>
          <a:xfrm>
            <a:off x="5616656" y="513816"/>
            <a:ext cx="1192955" cy="769441"/>
          </a:xfrm>
          <a:prstGeom prst="rect">
            <a:avLst/>
          </a:prstGeom>
          <a:noFill/>
        </p:spPr>
        <p:txBody>
          <a:bodyPr wrap="none" rtlCol="0">
            <a:spAutoFit/>
          </a:bodyPr>
          <a:lstStyle/>
          <a:p>
            <a:pPr algn="r" rtl="1"/>
            <a:r>
              <a:rPr lang="ar-AE" sz="4400" b="1" dirty="0">
                <a:latin typeface="Traditional Arabic" panose="02020603050405020304" pitchFamily="18" charset="-78"/>
                <a:cs typeface="Traditional Arabic" panose="02020603050405020304" pitchFamily="18" charset="-78"/>
              </a:rPr>
              <a:t>المقدمة</a:t>
            </a:r>
            <a:endParaRPr lang="en-US" sz="2800" b="1" dirty="0">
              <a:latin typeface="Traditional Arabic" panose="02020603050405020304" pitchFamily="18" charset="-78"/>
              <a:cs typeface="Traditional Arabic" panose="02020603050405020304" pitchFamily="18" charset="-78"/>
            </a:endParaRPr>
          </a:p>
        </p:txBody>
      </p:sp>
      <p:sp>
        <p:nvSpPr>
          <p:cNvPr id="16" name="عنصر نائب لرقم الشريحة 15"/>
          <p:cNvSpPr>
            <a:spLocks noGrp="1"/>
          </p:cNvSpPr>
          <p:nvPr>
            <p:ph type="sldNum" sz="quarter" idx="12"/>
          </p:nvPr>
        </p:nvSpPr>
        <p:spPr/>
        <p:txBody>
          <a:bodyPr/>
          <a:lstStyle/>
          <a:p>
            <a:fld id="{525C70E0-C15F-4ED1-8882-54048B2CF1D5}" type="slidenum">
              <a:rPr lang="en-US" smtClean="0"/>
              <a:t>3</a:t>
            </a:fld>
            <a:endParaRPr lang="en-US"/>
          </a:p>
        </p:txBody>
      </p:sp>
      <p:sp>
        <p:nvSpPr>
          <p:cNvPr id="2" name="مربع نص 1"/>
          <p:cNvSpPr txBox="1"/>
          <p:nvPr/>
        </p:nvSpPr>
        <p:spPr>
          <a:xfrm>
            <a:off x="6313428" y="1636776"/>
            <a:ext cx="4389343" cy="369332"/>
          </a:xfrm>
          <a:prstGeom prst="rect">
            <a:avLst/>
          </a:prstGeom>
          <a:noFill/>
        </p:spPr>
        <p:txBody>
          <a:bodyPr wrap="none" rtlCol="0">
            <a:spAutoFit/>
          </a:bodyPr>
          <a:lstStyle/>
          <a:p>
            <a:pPr marL="285750" indent="-285750" algn="r" rtl="1">
              <a:buFont typeface="Arial" panose="020B0604020202020204" pitchFamily="34" charset="0"/>
              <a:buChar char="•"/>
            </a:pPr>
            <a:r>
              <a:rPr lang="ar-AE" dirty="0" smtClean="0"/>
              <a:t>تعقد البنى التحتية للمؤسسات والشركات</a:t>
            </a:r>
            <a:endParaRPr lang="en-US" dirty="0"/>
          </a:p>
        </p:txBody>
      </p:sp>
      <p:sp>
        <p:nvSpPr>
          <p:cNvPr id="3" name="مربع نص 2"/>
          <p:cNvSpPr txBox="1"/>
          <p:nvPr/>
        </p:nvSpPr>
        <p:spPr>
          <a:xfrm>
            <a:off x="4173956" y="2532888"/>
            <a:ext cx="6528815" cy="369332"/>
          </a:xfrm>
          <a:prstGeom prst="rect">
            <a:avLst/>
          </a:prstGeom>
          <a:noFill/>
        </p:spPr>
        <p:txBody>
          <a:bodyPr wrap="square" rtlCol="0">
            <a:spAutoFit/>
          </a:bodyPr>
          <a:lstStyle/>
          <a:p>
            <a:pPr marL="285750" indent="-285750" algn="r" rtl="1">
              <a:buFont typeface="Arial" panose="020B0604020202020204" pitchFamily="34" charset="0"/>
              <a:buChar char="•"/>
            </a:pPr>
            <a:r>
              <a:rPr lang="ar-AE" dirty="0" smtClean="0"/>
              <a:t>ظهور نموذج جديد في الأمن </a:t>
            </a:r>
            <a:r>
              <a:rPr lang="ar-AE" dirty="0" err="1" smtClean="0"/>
              <a:t>السيبراني</a:t>
            </a:r>
            <a:r>
              <a:rPr lang="ar-AE" dirty="0" smtClean="0"/>
              <a:t> يعرف باسم الثقة الصفرية</a:t>
            </a:r>
            <a:endParaRPr lang="en-US" dirty="0"/>
          </a:p>
        </p:txBody>
      </p:sp>
    </p:spTree>
    <p:extLst>
      <p:ext uri="{BB962C8B-B14F-4D97-AF65-F5344CB8AC3E}">
        <p14:creationId xmlns:p14="http://schemas.microsoft.com/office/powerpoint/2010/main" val="10275690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مربع نص 4"/>
          <p:cNvSpPr txBox="1"/>
          <p:nvPr/>
        </p:nvSpPr>
        <p:spPr>
          <a:xfrm>
            <a:off x="4876800" y="294640"/>
            <a:ext cx="2528256" cy="769441"/>
          </a:xfrm>
          <a:prstGeom prst="rect">
            <a:avLst/>
          </a:prstGeom>
          <a:noFill/>
        </p:spPr>
        <p:txBody>
          <a:bodyPr wrap="none" rtlCol="0">
            <a:spAutoFit/>
          </a:bodyPr>
          <a:lstStyle/>
          <a:p>
            <a:r>
              <a:rPr lang="ar-AE" sz="4400" b="1" dirty="0">
                <a:latin typeface="Traditional Arabic" panose="02020603050405020304" pitchFamily="18" charset="-78"/>
                <a:cs typeface="Traditional Arabic" panose="02020603050405020304" pitchFamily="18" charset="-78"/>
              </a:rPr>
              <a:t>أهداف المشروع</a:t>
            </a:r>
            <a:endParaRPr lang="en-US" sz="4400" b="1" dirty="0">
              <a:latin typeface="Traditional Arabic" panose="02020603050405020304" pitchFamily="18" charset="-78"/>
              <a:cs typeface="Traditional Arabic" panose="02020603050405020304" pitchFamily="18" charset="-78"/>
            </a:endParaRPr>
          </a:p>
        </p:txBody>
      </p:sp>
      <p:sp>
        <p:nvSpPr>
          <p:cNvPr id="8" name="عنصر نائب لرقم الشريحة 7"/>
          <p:cNvSpPr>
            <a:spLocks noGrp="1"/>
          </p:cNvSpPr>
          <p:nvPr>
            <p:ph type="sldNum" sz="quarter" idx="12"/>
          </p:nvPr>
        </p:nvSpPr>
        <p:spPr/>
        <p:txBody>
          <a:bodyPr/>
          <a:lstStyle/>
          <a:p>
            <a:fld id="{525C70E0-C15F-4ED1-8882-54048B2CF1D5}" type="slidenum">
              <a:rPr lang="en-US" smtClean="0"/>
              <a:t>4</a:t>
            </a:fld>
            <a:endParaRPr lang="en-US"/>
          </a:p>
        </p:txBody>
      </p:sp>
      <p:pic>
        <p:nvPicPr>
          <p:cNvPr id="9" name="صورة 8" descr="HIAst"/>
          <p:cNvPicPr/>
          <p:nvPr/>
        </p:nvPicPr>
        <p:blipFill>
          <a:blip r:embed="rId2">
            <a:extLst>
              <a:ext uri="{28A0092B-C50C-407E-A947-70E740481C1C}">
                <a14:useLocalDpi xmlns:a14="http://schemas.microsoft.com/office/drawing/2010/main" val="0"/>
              </a:ext>
            </a:extLst>
          </a:blip>
          <a:srcRect/>
          <a:stretch>
            <a:fillRect/>
          </a:stretch>
        </p:blipFill>
        <p:spPr bwMode="auto">
          <a:xfrm>
            <a:off x="210541" y="0"/>
            <a:ext cx="1247036" cy="1283257"/>
          </a:xfrm>
          <a:prstGeom prst="rect">
            <a:avLst/>
          </a:prstGeom>
          <a:gradFill>
            <a:gsLst>
              <a:gs pos="76000">
                <a:schemeClr val="accent2"/>
              </a:gs>
              <a:gs pos="100000">
                <a:schemeClr val="bg2">
                  <a:shade val="98000"/>
                  <a:satMod val="120000"/>
                  <a:lumMod val="98000"/>
                </a:schemeClr>
              </a:gs>
            </a:gsLst>
            <a:lin ang="5400000" scaled="0"/>
          </a:gradFill>
        </p:spPr>
      </p:pic>
      <p:sp>
        <p:nvSpPr>
          <p:cNvPr id="4" name="مستطيل 3"/>
          <p:cNvSpPr/>
          <p:nvPr/>
        </p:nvSpPr>
        <p:spPr>
          <a:xfrm>
            <a:off x="1847088" y="1749569"/>
            <a:ext cx="8211312" cy="1676741"/>
          </a:xfrm>
          <a:prstGeom prst="rect">
            <a:avLst/>
          </a:prstGeom>
        </p:spPr>
        <p:txBody>
          <a:bodyPr wrap="square">
            <a:spAutoFit/>
          </a:bodyPr>
          <a:lstStyle/>
          <a:p>
            <a:pPr marL="285750" indent="-285750" algn="just" rtl="1">
              <a:lnSpc>
                <a:spcPct val="200000"/>
              </a:lnSpc>
              <a:spcAft>
                <a:spcPts val="800"/>
              </a:spcAft>
              <a:buFont typeface="Arial" panose="020B0604020202020204" pitchFamily="34" charset="0"/>
              <a:buChar char="•"/>
            </a:pPr>
            <a:r>
              <a:rPr lang="ar-AE" dirty="0">
                <a:latin typeface="Calibri" panose="020F0502020204030204" pitchFamily="34" charset="0"/>
                <a:ea typeface="Times New Roman" panose="02020603050405020304" pitchFamily="18" charset="0"/>
                <a:cs typeface="Calibri" panose="020F0502020204030204" pitchFamily="34" charset="0"/>
              </a:rPr>
              <a:t>يهدف المشروع إلى تصميم وتنفيذ معمارية أمنية تعتمد على مبدأ "الثقة-الصفرية</a:t>
            </a:r>
            <a:r>
              <a:rPr lang="en-US" dirty="0">
                <a:latin typeface="Calibri" panose="020F0502020204030204" pitchFamily="34" charset="0"/>
                <a:ea typeface="Times New Roman" panose="02020603050405020304" pitchFamily="18" charset="0"/>
                <a:cs typeface="Calibri" panose="020F0502020204030204" pitchFamily="34" charset="0"/>
              </a:rPr>
              <a:t>"(Zero Trust)  </a:t>
            </a:r>
            <a:r>
              <a:rPr lang="ar-AE" dirty="0">
                <a:latin typeface="Calibri" panose="020F0502020204030204" pitchFamily="34" charset="0"/>
                <a:ea typeface="Times New Roman" panose="02020603050405020304" pitchFamily="18" charset="0"/>
                <a:cs typeface="Calibri" panose="020F0502020204030204" pitchFamily="34" charset="0"/>
              </a:rPr>
              <a:t>لمؤسسة افتراضية صغيرة باستخدام أدوات مفتوحة المصدر، واختبار المعمارية </a:t>
            </a:r>
            <a:r>
              <a:rPr lang="ar-AE" dirty="0">
                <a:latin typeface="Calibri" panose="020F0502020204030204" pitchFamily="34" charset="0"/>
                <a:ea typeface="Calibri" panose="020F0502020204030204" pitchFamily="34" charset="0"/>
                <a:cs typeface="Calibri" panose="020F0502020204030204" pitchFamily="34" charset="0"/>
              </a:rPr>
              <a:t>في</a:t>
            </a:r>
            <a:r>
              <a:rPr lang="ar-AE" dirty="0"/>
              <a:t> </a:t>
            </a:r>
            <a:r>
              <a:rPr lang="ar-AE" dirty="0">
                <a:latin typeface="Calibri" panose="020F0502020204030204" pitchFamily="34" charset="0"/>
                <a:ea typeface="Calibri" panose="020F0502020204030204" pitchFamily="34" charset="0"/>
                <a:cs typeface="Calibri" panose="020F0502020204030204" pitchFamily="34" charset="0"/>
              </a:rPr>
              <a:t>مواجهة وصولات غير مشروعة وهجمات أمنية محتملة</a:t>
            </a:r>
            <a:r>
              <a:rPr lang="ar-AE" dirty="0" smtClean="0">
                <a:latin typeface="Calibri" panose="020F0502020204030204" pitchFamily="34" charset="0"/>
                <a:ea typeface="Calibri" panose="020F0502020204030204" pitchFamily="34" charset="0"/>
                <a:cs typeface="Calibri" panose="020F0502020204030204" pitchFamily="34" charset="0"/>
              </a:rPr>
              <a:t>.</a:t>
            </a:r>
            <a:endParaRPr lang="en-US"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259887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عنصر نائب لرقم الشريحة 4"/>
          <p:cNvSpPr>
            <a:spLocks noGrp="1"/>
          </p:cNvSpPr>
          <p:nvPr>
            <p:ph type="sldNum" sz="quarter" idx="12"/>
          </p:nvPr>
        </p:nvSpPr>
        <p:spPr/>
        <p:txBody>
          <a:bodyPr/>
          <a:lstStyle/>
          <a:p>
            <a:fld id="{525C70E0-C15F-4ED1-8882-54048B2CF1D5}" type="slidenum">
              <a:rPr lang="en-US" smtClean="0"/>
              <a:t>5</a:t>
            </a:fld>
            <a:endParaRPr lang="en-US"/>
          </a:p>
        </p:txBody>
      </p:sp>
      <p:sp>
        <p:nvSpPr>
          <p:cNvPr id="6" name="مربع نص 5"/>
          <p:cNvSpPr txBox="1"/>
          <p:nvPr/>
        </p:nvSpPr>
        <p:spPr>
          <a:xfrm>
            <a:off x="1988235" y="1947191"/>
            <a:ext cx="8035621" cy="3338735"/>
          </a:xfrm>
          <a:prstGeom prst="rect">
            <a:avLst/>
          </a:prstGeom>
          <a:noFill/>
        </p:spPr>
        <p:txBody>
          <a:bodyPr wrap="square" rtlCol="0">
            <a:spAutoFit/>
          </a:bodyPr>
          <a:lstStyle/>
          <a:p>
            <a:pPr marL="285750" lvl="0" indent="-285750" algn="just" rtl="1">
              <a:lnSpc>
                <a:spcPct val="200000"/>
              </a:lnSpc>
              <a:buFont typeface="Arial" panose="020B0604020202020204" pitchFamily="34" charset="0"/>
              <a:buChar char="•"/>
            </a:pPr>
            <a:r>
              <a:rPr lang="ar-AE" dirty="0">
                <a:latin typeface="Calibri" panose="020F0502020204030204" pitchFamily="34" charset="0"/>
                <a:ea typeface="Calibri" panose="020F0502020204030204" pitchFamily="34" charset="0"/>
                <a:cs typeface="Calibri" panose="020F0502020204030204" pitchFamily="34" charset="0"/>
              </a:rPr>
              <a:t>إعداد بيئة افتراضية لإنشاء مختبر محلي يحاكي بيئة مؤسسة بسيطة</a:t>
            </a:r>
            <a:r>
              <a:rPr lang="en-US" dirty="0">
                <a:latin typeface="Calibri" panose="020F0502020204030204" pitchFamily="34" charset="0"/>
                <a:ea typeface="Calibri" panose="020F0502020204030204" pitchFamily="34" charset="0"/>
                <a:cs typeface="Calibri" panose="020F0502020204030204" pitchFamily="34" charset="0"/>
              </a:rPr>
              <a:t>.</a:t>
            </a:r>
          </a:p>
          <a:p>
            <a:pPr marL="285750" lvl="0" indent="-285750" algn="just" rtl="1">
              <a:lnSpc>
                <a:spcPct val="200000"/>
              </a:lnSpc>
              <a:buFont typeface="Arial" panose="020B0604020202020204" pitchFamily="34" charset="0"/>
              <a:buChar char="•"/>
            </a:pPr>
            <a:r>
              <a:rPr lang="ar-AE" dirty="0">
                <a:latin typeface="Calibri" panose="020F0502020204030204" pitchFamily="34" charset="0"/>
                <a:ea typeface="Calibri" panose="020F0502020204030204" pitchFamily="34" charset="0"/>
                <a:cs typeface="Calibri" panose="020F0502020204030204" pitchFamily="34" charset="0"/>
              </a:rPr>
              <a:t>تصميم وتنفيذ معمارية الثقة الصفرية</a:t>
            </a:r>
            <a:r>
              <a:rPr lang="en-US" dirty="0">
                <a:latin typeface="Calibri" panose="020F0502020204030204" pitchFamily="34" charset="0"/>
                <a:ea typeface="Calibri" panose="020F0502020204030204" pitchFamily="34" charset="0"/>
                <a:cs typeface="Calibri" panose="020F0502020204030204" pitchFamily="34" charset="0"/>
              </a:rPr>
              <a:t> (ZTNA) </a:t>
            </a:r>
            <a:r>
              <a:rPr lang="ar-AE" dirty="0">
                <a:latin typeface="Calibri" panose="020F0502020204030204" pitchFamily="34" charset="0"/>
                <a:ea typeface="Calibri" panose="020F0502020204030204" pitchFamily="34" charset="0"/>
                <a:cs typeface="Calibri" panose="020F0502020204030204" pitchFamily="34" charset="0"/>
              </a:rPr>
              <a:t>لحماية موارد المؤسسة</a:t>
            </a:r>
            <a:r>
              <a:rPr lang="en-US" dirty="0">
                <a:latin typeface="Calibri" panose="020F0502020204030204" pitchFamily="34" charset="0"/>
                <a:ea typeface="Calibri" panose="020F0502020204030204" pitchFamily="34" charset="0"/>
                <a:cs typeface="Calibri" panose="020F0502020204030204" pitchFamily="34" charset="0"/>
              </a:rPr>
              <a:t>.</a:t>
            </a:r>
          </a:p>
          <a:p>
            <a:pPr marL="285750" lvl="0" indent="-285750" algn="just" rtl="1">
              <a:lnSpc>
                <a:spcPct val="200000"/>
              </a:lnSpc>
              <a:buFont typeface="Arial" panose="020B0604020202020204" pitchFamily="34" charset="0"/>
              <a:buChar char="•"/>
            </a:pPr>
            <a:r>
              <a:rPr lang="ar-AE" dirty="0">
                <a:latin typeface="Calibri" panose="020F0502020204030204" pitchFamily="34" charset="0"/>
                <a:ea typeface="Calibri" panose="020F0502020204030204" pitchFamily="34" charset="0"/>
                <a:cs typeface="Calibri" panose="020F0502020204030204" pitchFamily="34" charset="0"/>
              </a:rPr>
              <a:t>تطبيق المصادقة متعددة العوامل</a:t>
            </a:r>
            <a:r>
              <a:rPr lang="en-US" dirty="0">
                <a:latin typeface="Calibri" panose="020F0502020204030204" pitchFamily="34" charset="0"/>
                <a:ea typeface="Calibri" panose="020F0502020204030204" pitchFamily="34" charset="0"/>
                <a:cs typeface="Calibri" panose="020F0502020204030204" pitchFamily="34" charset="0"/>
              </a:rPr>
              <a:t> (MFA) </a:t>
            </a:r>
            <a:r>
              <a:rPr lang="ar-AE" dirty="0">
                <a:latin typeface="Calibri" panose="020F0502020204030204" pitchFamily="34" charset="0"/>
                <a:ea typeface="Calibri" panose="020F0502020204030204" pitchFamily="34" charset="0"/>
                <a:cs typeface="Calibri" panose="020F0502020204030204" pitchFamily="34" charset="0"/>
              </a:rPr>
              <a:t>لضمان تحقق قوي من هوية المستخدمين</a:t>
            </a:r>
            <a:r>
              <a:rPr lang="en-US" dirty="0">
                <a:latin typeface="Calibri" panose="020F0502020204030204" pitchFamily="34" charset="0"/>
                <a:ea typeface="Calibri" panose="020F0502020204030204" pitchFamily="34" charset="0"/>
                <a:cs typeface="Calibri" panose="020F0502020204030204" pitchFamily="34" charset="0"/>
              </a:rPr>
              <a:t>.</a:t>
            </a:r>
          </a:p>
          <a:p>
            <a:pPr marL="285750" lvl="0" indent="-285750" algn="just" rtl="1">
              <a:lnSpc>
                <a:spcPct val="200000"/>
              </a:lnSpc>
              <a:buFont typeface="Arial" panose="020B0604020202020204" pitchFamily="34" charset="0"/>
              <a:buChar char="•"/>
            </a:pPr>
            <a:r>
              <a:rPr lang="ar-AE" dirty="0">
                <a:latin typeface="Calibri" panose="020F0502020204030204" pitchFamily="34" charset="0"/>
                <a:ea typeface="Calibri" panose="020F0502020204030204" pitchFamily="34" charset="0"/>
                <a:cs typeface="Calibri" panose="020F0502020204030204" pitchFamily="34" charset="0"/>
              </a:rPr>
              <a:t>تطبيق سياسة الوصول المعتمدة على الأدوار</a:t>
            </a:r>
            <a:r>
              <a:rPr lang="en-US" dirty="0">
                <a:latin typeface="Calibri" panose="020F0502020204030204" pitchFamily="34" charset="0"/>
                <a:ea typeface="Calibri" panose="020F0502020204030204" pitchFamily="34" charset="0"/>
                <a:cs typeface="Calibri" panose="020F0502020204030204" pitchFamily="34" charset="0"/>
              </a:rPr>
              <a:t>(RBAC)</a:t>
            </a:r>
            <a:r>
              <a:rPr lang="ar-AE"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Calibri" panose="020F0502020204030204" pitchFamily="34" charset="0"/>
            </a:endParaRPr>
          </a:p>
          <a:p>
            <a:pPr marL="285750" lvl="0" indent="-285750" algn="just" rtl="1">
              <a:lnSpc>
                <a:spcPct val="200000"/>
              </a:lnSpc>
              <a:buFont typeface="Arial" panose="020B0604020202020204" pitchFamily="34" charset="0"/>
              <a:buChar char="•"/>
            </a:pPr>
            <a:r>
              <a:rPr lang="ar-AE" dirty="0">
                <a:latin typeface="Calibri" panose="020F0502020204030204" pitchFamily="34" charset="0"/>
                <a:ea typeface="Calibri" panose="020F0502020204030204" pitchFamily="34" charset="0"/>
                <a:cs typeface="Calibri" panose="020F0502020204030204" pitchFamily="34" charset="0"/>
              </a:rPr>
              <a:t>تأمين الاتصالات باستخدام بروتوكولات</a:t>
            </a:r>
            <a:r>
              <a:rPr lang="en-US" dirty="0">
                <a:latin typeface="Calibri" panose="020F0502020204030204" pitchFamily="34" charset="0"/>
                <a:ea typeface="Calibri" panose="020F0502020204030204" pitchFamily="34" charset="0"/>
                <a:cs typeface="Calibri" panose="020F0502020204030204" pitchFamily="34" charset="0"/>
              </a:rPr>
              <a:t>VPN </a:t>
            </a:r>
            <a:r>
              <a:rPr lang="ar-AE"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Calibri" panose="020F0502020204030204" pitchFamily="34" charset="0"/>
            </a:endParaRPr>
          </a:p>
          <a:p>
            <a:pPr marL="285750" lvl="0" indent="-285750" algn="just" rtl="1">
              <a:lnSpc>
                <a:spcPct val="200000"/>
              </a:lnSpc>
              <a:buFont typeface="Arial" panose="020B0604020202020204" pitchFamily="34" charset="0"/>
              <a:buChar char="•"/>
            </a:pPr>
            <a:r>
              <a:rPr lang="ar-AE" dirty="0">
                <a:latin typeface="Calibri" panose="020F0502020204030204" pitchFamily="34" charset="0"/>
                <a:ea typeface="Calibri" panose="020F0502020204030204" pitchFamily="34" charset="0"/>
                <a:cs typeface="Calibri" panose="020F0502020204030204" pitchFamily="34" charset="0"/>
              </a:rPr>
              <a:t>اختبار المعمارية في مواجهة وصولات غير مشروعة وهجمات أمنية محتملة.</a:t>
            </a: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7" name="صورة 6" descr="HIAst"/>
          <p:cNvPicPr/>
          <p:nvPr/>
        </p:nvPicPr>
        <p:blipFill>
          <a:blip r:embed="rId2">
            <a:extLst>
              <a:ext uri="{28A0092B-C50C-407E-A947-70E740481C1C}">
                <a14:useLocalDpi xmlns:a14="http://schemas.microsoft.com/office/drawing/2010/main" val="0"/>
              </a:ext>
            </a:extLst>
          </a:blip>
          <a:srcRect/>
          <a:stretch>
            <a:fillRect/>
          </a:stretch>
        </p:blipFill>
        <p:spPr bwMode="auto">
          <a:xfrm>
            <a:off x="210541" y="0"/>
            <a:ext cx="1247036" cy="1283257"/>
          </a:xfrm>
          <a:prstGeom prst="rect">
            <a:avLst/>
          </a:prstGeom>
          <a:gradFill>
            <a:gsLst>
              <a:gs pos="76000">
                <a:schemeClr val="accent2"/>
              </a:gs>
              <a:gs pos="100000">
                <a:schemeClr val="bg2">
                  <a:shade val="98000"/>
                  <a:satMod val="120000"/>
                  <a:lumMod val="98000"/>
                </a:schemeClr>
              </a:gs>
            </a:gsLst>
            <a:lin ang="5400000" scaled="0"/>
          </a:gradFill>
        </p:spPr>
      </p:pic>
      <p:sp>
        <p:nvSpPr>
          <p:cNvPr id="8" name="مربع نص 7"/>
          <p:cNvSpPr txBox="1"/>
          <p:nvPr/>
        </p:nvSpPr>
        <p:spPr>
          <a:xfrm>
            <a:off x="4185920" y="612319"/>
            <a:ext cx="3464560" cy="769441"/>
          </a:xfrm>
          <a:prstGeom prst="rect">
            <a:avLst/>
          </a:prstGeom>
          <a:noFill/>
        </p:spPr>
        <p:txBody>
          <a:bodyPr wrap="square" rtlCol="0">
            <a:spAutoFit/>
          </a:bodyPr>
          <a:lstStyle/>
          <a:p>
            <a:pPr algn="r" rtl="1"/>
            <a:r>
              <a:rPr lang="ar-AE" sz="4000" b="1" dirty="0">
                <a:latin typeface="Traditional Arabic" panose="02020603050405020304" pitchFamily="18" charset="-78"/>
                <a:cs typeface="Traditional Arabic" panose="02020603050405020304" pitchFamily="18" charset="-78"/>
              </a:rPr>
              <a:t>المتطلبات </a:t>
            </a:r>
            <a:r>
              <a:rPr lang="ar-AE" sz="4400" b="1" dirty="0">
                <a:latin typeface="Traditional Arabic" panose="02020603050405020304" pitchFamily="18" charset="-78"/>
                <a:cs typeface="Traditional Arabic" panose="02020603050405020304" pitchFamily="18" charset="-78"/>
              </a:rPr>
              <a:t>الوظيفية</a:t>
            </a:r>
            <a:r>
              <a:rPr lang="ar-AE" sz="4000" b="1" dirty="0">
                <a:latin typeface="Traditional Arabic" panose="02020603050405020304" pitchFamily="18" charset="-78"/>
                <a:cs typeface="Traditional Arabic" panose="02020603050405020304" pitchFamily="18" charset="-78"/>
              </a:rPr>
              <a:t> </a:t>
            </a:r>
            <a:endParaRPr lang="en-US" sz="4000" b="1"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4437991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صر نائب لرقم الشريحة 3"/>
          <p:cNvSpPr>
            <a:spLocks noGrp="1"/>
          </p:cNvSpPr>
          <p:nvPr>
            <p:ph type="sldNum" sz="quarter" idx="12"/>
          </p:nvPr>
        </p:nvSpPr>
        <p:spPr/>
        <p:txBody>
          <a:bodyPr/>
          <a:lstStyle/>
          <a:p>
            <a:fld id="{525C70E0-C15F-4ED1-8882-54048B2CF1D5}" type="slidenum">
              <a:rPr lang="en-US" smtClean="0"/>
              <a:t>6</a:t>
            </a:fld>
            <a:endParaRPr lang="en-US"/>
          </a:p>
        </p:txBody>
      </p:sp>
      <p:pic>
        <p:nvPicPr>
          <p:cNvPr id="6" name="صورة 5"/>
          <p:cNvPicPr>
            <a:picLocks noChangeAspect="1"/>
          </p:cNvPicPr>
          <p:nvPr/>
        </p:nvPicPr>
        <p:blipFill>
          <a:blip r:embed="rId3"/>
          <a:stretch>
            <a:fillRect/>
          </a:stretch>
        </p:blipFill>
        <p:spPr>
          <a:xfrm>
            <a:off x="209232" y="0"/>
            <a:ext cx="1247775" cy="1285875"/>
          </a:xfrm>
          <a:prstGeom prst="rect">
            <a:avLst/>
          </a:prstGeom>
        </p:spPr>
      </p:pic>
      <p:sp>
        <p:nvSpPr>
          <p:cNvPr id="9" name="مربع نص 8"/>
          <p:cNvSpPr txBox="1"/>
          <p:nvPr/>
        </p:nvSpPr>
        <p:spPr>
          <a:xfrm>
            <a:off x="4185920" y="612319"/>
            <a:ext cx="3464560" cy="707886"/>
          </a:xfrm>
          <a:prstGeom prst="rect">
            <a:avLst/>
          </a:prstGeom>
          <a:noFill/>
        </p:spPr>
        <p:txBody>
          <a:bodyPr wrap="square" rtlCol="0">
            <a:spAutoFit/>
          </a:bodyPr>
          <a:lstStyle/>
          <a:p>
            <a:pPr algn="r" rtl="1"/>
            <a:r>
              <a:rPr lang="ar-AE" sz="4000" b="1" dirty="0" smtClean="0">
                <a:latin typeface="Traditional Arabic" panose="02020603050405020304" pitchFamily="18" charset="-78"/>
                <a:cs typeface="Traditional Arabic" panose="02020603050405020304" pitchFamily="18" charset="-78"/>
              </a:rPr>
              <a:t>مبادئ الثقة الصفرية </a:t>
            </a:r>
            <a:endParaRPr lang="en-US" sz="4000" b="1" dirty="0">
              <a:latin typeface="Traditional Arabic" panose="02020603050405020304" pitchFamily="18" charset="-78"/>
              <a:cs typeface="Traditional Arabic" panose="02020603050405020304" pitchFamily="18" charset="-78"/>
            </a:endParaRPr>
          </a:p>
        </p:txBody>
      </p:sp>
      <p:pic>
        <p:nvPicPr>
          <p:cNvPr id="12" name="صورة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9045" y="2913930"/>
            <a:ext cx="8874489" cy="1737424"/>
          </a:xfrm>
          <a:prstGeom prst="rect">
            <a:avLst/>
          </a:prstGeom>
        </p:spPr>
      </p:pic>
      <p:sp>
        <p:nvSpPr>
          <p:cNvPr id="3" name="مستطيل 2"/>
          <p:cNvSpPr/>
          <p:nvPr/>
        </p:nvSpPr>
        <p:spPr>
          <a:xfrm>
            <a:off x="4493887" y="1388102"/>
            <a:ext cx="5489002" cy="923330"/>
          </a:xfrm>
          <a:prstGeom prst="rect">
            <a:avLst/>
          </a:prstGeom>
        </p:spPr>
        <p:txBody>
          <a:bodyPr wrap="none">
            <a:spAutoFit/>
          </a:bodyPr>
          <a:lstStyle/>
          <a:p>
            <a:pPr marL="285750" indent="-285750" algn="r" rtl="1">
              <a:buFont typeface="Arial" panose="020B0604020202020204" pitchFamily="34" charset="0"/>
              <a:buChar char="•"/>
            </a:pPr>
            <a:r>
              <a:rPr lang="ar-AE" dirty="0">
                <a:ea typeface="Times New Roman" panose="02020603050405020304" pitchFamily="18" charset="0"/>
                <a:cs typeface="Calibri" panose="020F0502020204030204" pitchFamily="34" charset="0"/>
              </a:rPr>
              <a:t>مبدأ أساسي هو "لا تثق أبدا"، "تحقق </a:t>
            </a:r>
            <a:r>
              <a:rPr lang="ar-AE" dirty="0" smtClean="0">
                <a:ea typeface="Times New Roman" panose="02020603050405020304" pitchFamily="18" charset="0"/>
                <a:cs typeface="Calibri" panose="020F0502020204030204" pitchFamily="34" charset="0"/>
              </a:rPr>
              <a:t>دائما</a:t>
            </a:r>
            <a:r>
              <a:rPr lang="en-US" dirty="0" smtClean="0">
                <a:ea typeface="Times New Roman" panose="02020603050405020304" pitchFamily="18" charset="0"/>
                <a:cs typeface="Calibri" panose="020F0502020204030204" pitchFamily="34" charset="0"/>
              </a:rPr>
              <a:t>”</a:t>
            </a:r>
            <a:endParaRPr lang="ar-AE" dirty="0" smtClean="0">
              <a:ea typeface="Times New Roman" panose="02020603050405020304" pitchFamily="18" charset="0"/>
              <a:cs typeface="Calibri" panose="020F0502020204030204" pitchFamily="34" charset="0"/>
            </a:endParaRPr>
          </a:p>
          <a:p>
            <a:pPr algn="r" rtl="1"/>
            <a:endParaRPr lang="ar-AE" dirty="0" smtClean="0">
              <a:ea typeface="Times New Roman" panose="02020603050405020304" pitchFamily="18" charset="0"/>
              <a:cs typeface="Calibri" panose="020F0502020204030204" pitchFamily="34" charset="0"/>
            </a:endParaRPr>
          </a:p>
          <a:p>
            <a:pPr marL="285750" indent="-285750" algn="r" rtl="1">
              <a:buFont typeface="Arial" panose="020B0604020202020204" pitchFamily="34" charset="0"/>
              <a:buChar char="•"/>
            </a:pPr>
            <a:r>
              <a:rPr lang="ar-AE" dirty="0" smtClean="0">
                <a:ea typeface="Times New Roman" panose="02020603050405020304" pitchFamily="18" charset="0"/>
                <a:cs typeface="Calibri" panose="020F0502020204030204" pitchFamily="34" charset="0"/>
              </a:rPr>
              <a:t>تنطبق الثقة الصفرية على مجالين أساسيين هما المصادقة والتخويل </a:t>
            </a:r>
            <a:endParaRPr lang="en-US" dirty="0"/>
          </a:p>
        </p:txBody>
      </p:sp>
    </p:spTree>
    <p:extLst>
      <p:ext uri="{BB962C8B-B14F-4D97-AF65-F5344CB8AC3E}">
        <p14:creationId xmlns:p14="http://schemas.microsoft.com/office/powerpoint/2010/main" val="38305797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صر نائب لرقم الشريحة 3"/>
          <p:cNvSpPr>
            <a:spLocks noGrp="1"/>
          </p:cNvSpPr>
          <p:nvPr>
            <p:ph type="sldNum" sz="quarter" idx="12"/>
          </p:nvPr>
        </p:nvSpPr>
        <p:spPr/>
        <p:txBody>
          <a:bodyPr/>
          <a:lstStyle/>
          <a:p>
            <a:fld id="{525C70E0-C15F-4ED1-8882-54048B2CF1D5}" type="slidenum">
              <a:rPr lang="en-US" smtClean="0"/>
              <a:t>7</a:t>
            </a:fld>
            <a:endParaRPr lang="en-US"/>
          </a:p>
        </p:txBody>
      </p:sp>
      <p:pic>
        <p:nvPicPr>
          <p:cNvPr id="12" name="صورة 11" descr="HIAst"/>
          <p:cNvPicPr/>
          <p:nvPr/>
        </p:nvPicPr>
        <p:blipFill>
          <a:blip r:embed="rId2">
            <a:extLst>
              <a:ext uri="{28A0092B-C50C-407E-A947-70E740481C1C}">
                <a14:useLocalDpi xmlns:a14="http://schemas.microsoft.com/office/drawing/2010/main" val="0"/>
              </a:ext>
            </a:extLst>
          </a:blip>
          <a:srcRect/>
          <a:stretch>
            <a:fillRect/>
          </a:stretch>
        </p:blipFill>
        <p:spPr bwMode="auto">
          <a:xfrm>
            <a:off x="210541" y="0"/>
            <a:ext cx="1247036" cy="1283257"/>
          </a:xfrm>
          <a:prstGeom prst="rect">
            <a:avLst/>
          </a:prstGeom>
          <a:gradFill>
            <a:gsLst>
              <a:gs pos="76000">
                <a:schemeClr val="accent2"/>
              </a:gs>
              <a:gs pos="100000">
                <a:schemeClr val="bg2">
                  <a:shade val="98000"/>
                  <a:satMod val="120000"/>
                  <a:lumMod val="98000"/>
                </a:schemeClr>
              </a:gs>
            </a:gsLst>
            <a:lin ang="5400000" scaled="0"/>
          </a:gradFill>
        </p:spPr>
      </p:pic>
      <p:sp>
        <p:nvSpPr>
          <p:cNvPr id="6" name="مربع نص 5"/>
          <p:cNvSpPr txBox="1"/>
          <p:nvPr/>
        </p:nvSpPr>
        <p:spPr>
          <a:xfrm>
            <a:off x="1961618" y="575371"/>
            <a:ext cx="8074152" cy="707886"/>
          </a:xfrm>
          <a:prstGeom prst="rect">
            <a:avLst/>
          </a:prstGeom>
          <a:noFill/>
        </p:spPr>
        <p:txBody>
          <a:bodyPr wrap="square" rtlCol="0">
            <a:spAutoFit/>
          </a:bodyPr>
          <a:lstStyle/>
          <a:p>
            <a:pPr algn="r" rtl="1"/>
            <a:r>
              <a:rPr lang="ar-AE" sz="4000" b="1" dirty="0" smtClean="0">
                <a:latin typeface="Traditional Arabic" panose="02020603050405020304" pitchFamily="18" charset="-78"/>
                <a:cs typeface="Traditional Arabic" panose="02020603050405020304" pitchFamily="18" charset="-78"/>
              </a:rPr>
              <a:t>الوصول الشبكي القائم على الثقة الصفرية-</a:t>
            </a:r>
            <a:r>
              <a:rPr lang="en-US" sz="4000" b="1" dirty="0" smtClean="0">
                <a:latin typeface="Traditional Arabic" panose="02020603050405020304" pitchFamily="18" charset="-78"/>
                <a:cs typeface="Traditional Arabic" panose="02020603050405020304" pitchFamily="18" charset="-78"/>
              </a:rPr>
              <a:t>ZTNA</a:t>
            </a:r>
            <a:endParaRPr lang="en-US" sz="4000" b="1" dirty="0">
              <a:latin typeface="Traditional Arabic" panose="02020603050405020304" pitchFamily="18" charset="-78"/>
              <a:cs typeface="Traditional Arabic" panose="02020603050405020304" pitchFamily="18" charset="-78"/>
            </a:endParaRPr>
          </a:p>
        </p:txBody>
      </p:sp>
      <p:sp>
        <p:nvSpPr>
          <p:cNvPr id="2" name="مستطيل 1"/>
          <p:cNvSpPr/>
          <p:nvPr/>
        </p:nvSpPr>
        <p:spPr>
          <a:xfrm>
            <a:off x="2237488" y="1703881"/>
            <a:ext cx="7650428" cy="3798732"/>
          </a:xfrm>
          <a:prstGeom prst="rect">
            <a:avLst/>
          </a:prstGeom>
        </p:spPr>
        <p:txBody>
          <a:bodyPr wrap="none">
            <a:spAutoFit/>
          </a:bodyPr>
          <a:lstStyle/>
          <a:p>
            <a:pPr algn="r" rtl="1">
              <a:lnSpc>
                <a:spcPct val="150000"/>
              </a:lnSpc>
              <a:spcBef>
                <a:spcPts val="200"/>
              </a:spcBef>
            </a:pPr>
            <a:r>
              <a:rPr lang="ar-AE" b="1" dirty="0" smtClean="0">
                <a:solidFill>
                  <a:srgbClr val="000000"/>
                </a:solidFill>
                <a:latin typeface="Calibri" panose="020F0502020204030204" pitchFamily="34" charset="0"/>
                <a:ea typeface="Calibri" panose="020F0502020204030204" pitchFamily="34" charset="0"/>
                <a:cs typeface="Calibri" panose="020F0502020204030204" pitchFamily="34" charset="0"/>
              </a:rPr>
              <a:t>المبادئ الأساسية لنموذج </a:t>
            </a:r>
            <a:r>
              <a:rPr lang="en-US" b="1" dirty="0" smtClean="0">
                <a:solidFill>
                  <a:srgbClr val="000000"/>
                </a:solidFill>
                <a:latin typeface="Calibri" panose="020F0502020204030204" pitchFamily="34" charset="0"/>
                <a:ea typeface="Calibri" panose="020F0502020204030204" pitchFamily="34" charset="0"/>
                <a:cs typeface="Calibri" panose="020F0502020204030204" pitchFamily="34" charset="0"/>
              </a:rPr>
              <a:t>ZTNA</a:t>
            </a:r>
            <a:r>
              <a:rPr lang="ar-AE" b="1" dirty="0" smtClean="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285750" indent="-285750" algn="r" rtl="1">
              <a:lnSpc>
                <a:spcPct val="150000"/>
              </a:lnSpc>
              <a:spcBef>
                <a:spcPts val="200"/>
              </a:spcBef>
              <a:buFont typeface="Arial" panose="020B0604020202020204" pitchFamily="34" charset="0"/>
              <a:buChar char="•"/>
            </a:pPr>
            <a:r>
              <a:rPr lang="ar-AE" dirty="0" smtClean="0">
                <a:solidFill>
                  <a:srgbClr val="000000"/>
                </a:solidFill>
                <a:latin typeface="Calibri" panose="020F0502020204030204" pitchFamily="34" charset="0"/>
                <a:ea typeface="Calibri" panose="020F0502020204030204" pitchFamily="34" charset="0"/>
                <a:cs typeface="Calibri" panose="020F0502020204030204" pitchFamily="34" charset="0"/>
              </a:rPr>
              <a:t>مبدأ </a:t>
            </a:r>
            <a:r>
              <a:rPr lang="ar-AE" dirty="0">
                <a:solidFill>
                  <a:srgbClr val="000000"/>
                </a:solidFill>
                <a:latin typeface="Calibri" panose="020F0502020204030204" pitchFamily="34" charset="0"/>
                <a:ea typeface="Calibri" panose="020F0502020204030204" pitchFamily="34" charset="0"/>
                <a:cs typeface="Calibri" panose="020F0502020204030204" pitchFamily="34" charset="0"/>
              </a:rPr>
              <a:t>الصلاحيات الأدنى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Least Privilege </a:t>
            </a:r>
            <a:endParaRPr lang="ar-AE" dirty="0" smtClean="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742950" lvl="1" indent="-285750" algn="r" rtl="1">
              <a:lnSpc>
                <a:spcPct val="150000"/>
              </a:lnSpc>
              <a:spcBef>
                <a:spcPts val="200"/>
              </a:spcBef>
              <a:buFont typeface="Arial" panose="020B0604020202020204" pitchFamily="34" charset="0"/>
              <a:buChar char="•"/>
            </a:pPr>
            <a:r>
              <a:rPr lang="ar-AE" dirty="0" smtClean="0">
                <a:latin typeface="Calibri" panose="020F0502020204030204" pitchFamily="34" charset="0"/>
                <a:ea typeface="Calibri" panose="020F0502020204030204" pitchFamily="34" charset="0"/>
                <a:cs typeface="Calibri" panose="020F0502020204030204" pitchFamily="34" charset="0"/>
              </a:rPr>
              <a:t>التحكم </a:t>
            </a:r>
            <a:r>
              <a:rPr lang="ar-AE" dirty="0">
                <a:latin typeface="Calibri" panose="020F0502020204030204" pitchFamily="34" charset="0"/>
                <a:ea typeface="Calibri" panose="020F0502020204030204" pitchFamily="34" charset="0"/>
                <a:cs typeface="Calibri" panose="020F0502020204030204" pitchFamily="34" charset="0"/>
              </a:rPr>
              <a:t>في الوصول المعتمد على الأدوار </a:t>
            </a:r>
            <a:r>
              <a:rPr lang="en-US" dirty="0">
                <a:latin typeface="Calibri" panose="020F0502020204030204" pitchFamily="34" charset="0"/>
                <a:ea typeface="Calibri" panose="020F0502020204030204" pitchFamily="34" charset="0"/>
                <a:cs typeface="Calibri" panose="020F0502020204030204" pitchFamily="34" charset="0"/>
              </a:rPr>
              <a:t>(RBAC</a:t>
            </a:r>
            <a:r>
              <a:rPr lang="en-US" dirty="0" smtClean="0">
                <a:latin typeface="Calibri" panose="020F0502020204030204" pitchFamily="34" charset="0"/>
                <a:ea typeface="Calibri" panose="020F0502020204030204" pitchFamily="34" charset="0"/>
                <a:cs typeface="Calibri" panose="020F0502020204030204" pitchFamily="34" charset="0"/>
              </a:rPr>
              <a:t>)</a:t>
            </a:r>
            <a:endParaRPr lang="ar-AE" dirty="0" smtClean="0">
              <a:latin typeface="Calibri" panose="020F0502020204030204" pitchFamily="34" charset="0"/>
              <a:ea typeface="Calibri" panose="020F0502020204030204" pitchFamily="34" charset="0"/>
              <a:cs typeface="Calibri" panose="020F0502020204030204" pitchFamily="34" charset="0"/>
            </a:endParaRPr>
          </a:p>
          <a:p>
            <a:pPr marL="285750" indent="-285750" algn="r" rtl="1">
              <a:lnSpc>
                <a:spcPct val="150000"/>
              </a:lnSpc>
              <a:spcBef>
                <a:spcPts val="200"/>
              </a:spcBef>
              <a:buFont typeface="Arial" panose="020B0604020202020204" pitchFamily="34" charset="0"/>
              <a:buChar char="•"/>
            </a:pPr>
            <a:r>
              <a:rPr lang="ar-AE" dirty="0">
                <a:latin typeface="Calibri" panose="020F0502020204030204" pitchFamily="34" charset="0"/>
                <a:ea typeface="Calibri" panose="020F0502020204030204" pitchFamily="34" charset="0"/>
                <a:cs typeface="Calibri" panose="020F0502020204030204" pitchFamily="34" charset="0"/>
              </a:rPr>
              <a:t>المصادقة المستمرة </a:t>
            </a:r>
            <a:r>
              <a:rPr lang="en-US" dirty="0">
                <a:latin typeface="Calibri" panose="020F0502020204030204" pitchFamily="34" charset="0"/>
                <a:ea typeface="Calibri" panose="020F0502020204030204" pitchFamily="34" charset="0"/>
                <a:cs typeface="Calibri" panose="020F0502020204030204" pitchFamily="34" charset="0"/>
              </a:rPr>
              <a:t>Continuous Authentication</a:t>
            </a:r>
          </a:p>
          <a:p>
            <a:pPr marL="285750" indent="-285750" algn="r" rtl="1">
              <a:lnSpc>
                <a:spcPct val="150000"/>
              </a:lnSpc>
              <a:spcBef>
                <a:spcPts val="200"/>
              </a:spcBef>
              <a:buFont typeface="Arial" panose="020B0604020202020204" pitchFamily="34" charset="0"/>
              <a:buChar char="•"/>
            </a:pPr>
            <a:r>
              <a:rPr lang="ar-AE" dirty="0">
                <a:latin typeface="Calibri" panose="020F0502020204030204" pitchFamily="34" charset="0"/>
                <a:ea typeface="Calibri" panose="020F0502020204030204" pitchFamily="34" charset="0"/>
                <a:cs typeface="Calibri" panose="020F0502020204030204" pitchFamily="34" charset="0"/>
              </a:rPr>
              <a:t>التقسيم الدقيق (</a:t>
            </a:r>
            <a:r>
              <a:rPr lang="en-US" dirty="0" err="1">
                <a:latin typeface="Calibri" panose="020F0502020204030204" pitchFamily="34" charset="0"/>
                <a:ea typeface="Calibri" panose="020F0502020204030204" pitchFamily="34" charset="0"/>
                <a:cs typeface="Calibri" panose="020F0502020204030204" pitchFamily="34" charset="0"/>
              </a:rPr>
              <a:t>Microsegmentation</a:t>
            </a:r>
            <a:r>
              <a:rPr lang="ar-AE"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lgn="r" rtl="1">
              <a:lnSpc>
                <a:spcPct val="150000"/>
              </a:lnSpc>
              <a:spcBef>
                <a:spcPts val="200"/>
              </a:spcBef>
              <a:buFont typeface="Arial" panose="020B0604020202020204" pitchFamily="34" charset="0"/>
              <a:buChar char="•"/>
            </a:pPr>
            <a:r>
              <a:rPr lang="ar-AE" dirty="0">
                <a:latin typeface="Calibri" panose="020F0502020204030204" pitchFamily="34" charset="0"/>
                <a:ea typeface="Calibri" panose="020F0502020204030204" pitchFamily="34" charset="0"/>
                <a:cs typeface="Calibri" panose="020F0502020204030204" pitchFamily="34" charset="0"/>
              </a:rPr>
              <a:t> التحكم في الوصول القائم على السياسات (</a:t>
            </a:r>
            <a:r>
              <a:rPr lang="en-US" dirty="0">
                <a:latin typeface="Calibri" panose="020F0502020204030204" pitchFamily="34" charset="0"/>
                <a:ea typeface="Calibri" panose="020F0502020204030204" pitchFamily="34" charset="0"/>
                <a:cs typeface="Calibri" panose="020F0502020204030204" pitchFamily="34" charset="0"/>
              </a:rPr>
              <a:t>Policy-Based Access Control -PBAC</a:t>
            </a:r>
            <a:r>
              <a:rPr lang="ar-AE" dirty="0">
                <a:latin typeface="Calibri" panose="020F0502020204030204" pitchFamily="34" charset="0"/>
                <a:ea typeface="Calibri" panose="020F0502020204030204" pitchFamily="34" charset="0"/>
                <a:cs typeface="Calibri" panose="020F0502020204030204" pitchFamily="34" charset="0"/>
              </a:rPr>
              <a:t>) </a:t>
            </a:r>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lgn="r" rtl="1">
              <a:lnSpc>
                <a:spcPct val="150000"/>
              </a:lnSpc>
              <a:spcBef>
                <a:spcPts val="200"/>
              </a:spcBef>
              <a:buFont typeface="Arial" panose="020B0604020202020204" pitchFamily="34" charset="0"/>
              <a:buChar char="•"/>
            </a:pPr>
            <a:r>
              <a:rPr lang="ar-AE" dirty="0">
                <a:latin typeface="Calibri" panose="020F0502020204030204" pitchFamily="34" charset="0"/>
                <a:ea typeface="Calibri" panose="020F0502020204030204" pitchFamily="34" charset="0"/>
                <a:cs typeface="Calibri" panose="020F0502020204030204" pitchFamily="34" charset="0"/>
              </a:rPr>
              <a:t> التنفيذ الديناميكي للسياسات وتحديثها (</a:t>
            </a:r>
            <a:r>
              <a:rPr lang="en-US" dirty="0">
                <a:latin typeface="Calibri" panose="020F0502020204030204" pitchFamily="34" charset="0"/>
                <a:ea typeface="Calibri" panose="020F0502020204030204" pitchFamily="34" charset="0"/>
                <a:cs typeface="Calibri" panose="020F0502020204030204" pitchFamily="34" charset="0"/>
              </a:rPr>
              <a:t>Dynamic Policy Enforcement and Updates</a:t>
            </a:r>
            <a:r>
              <a:rPr lang="ar-AE"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Calibri" panose="020F0502020204030204" pitchFamily="34" charset="0"/>
            </a:endParaRPr>
          </a:p>
          <a:p>
            <a:pPr algn="r" rtl="1">
              <a:lnSpc>
                <a:spcPct val="107000"/>
              </a:lnSpc>
              <a:spcBef>
                <a:spcPts val="200"/>
              </a:spcBef>
            </a:pPr>
            <a:endParaRPr lang="en-US" b="1" dirty="0" smtClean="0">
              <a:latin typeface="Calibri" panose="020F0502020204030204" pitchFamily="34" charset="0"/>
              <a:ea typeface="Calibri" panose="020F0502020204030204" pitchFamily="34" charset="0"/>
              <a:cs typeface="Calibri" panose="020F0502020204030204" pitchFamily="34" charset="0"/>
            </a:endParaRPr>
          </a:p>
          <a:p>
            <a:pPr algn="r" rtl="1">
              <a:lnSpc>
                <a:spcPct val="107000"/>
              </a:lnSpc>
              <a:spcBef>
                <a:spcPts val="200"/>
              </a:spcBef>
            </a:pPr>
            <a:endParaRPr lang="en-US" b="1"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518030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صر نائب لرقم الشريحة 3"/>
          <p:cNvSpPr>
            <a:spLocks noGrp="1"/>
          </p:cNvSpPr>
          <p:nvPr>
            <p:ph type="sldNum" sz="quarter" idx="12"/>
          </p:nvPr>
        </p:nvSpPr>
        <p:spPr/>
        <p:txBody>
          <a:bodyPr/>
          <a:lstStyle/>
          <a:p>
            <a:fld id="{525C70E0-C15F-4ED1-8882-54048B2CF1D5}" type="slidenum">
              <a:rPr lang="en-US" smtClean="0"/>
              <a:t>8</a:t>
            </a:fld>
            <a:endParaRPr lang="en-US"/>
          </a:p>
        </p:txBody>
      </p:sp>
      <p:pic>
        <p:nvPicPr>
          <p:cNvPr id="12" name="صورة 11" descr="HIAst"/>
          <p:cNvPicPr/>
          <p:nvPr/>
        </p:nvPicPr>
        <p:blipFill>
          <a:blip r:embed="rId2">
            <a:extLst>
              <a:ext uri="{28A0092B-C50C-407E-A947-70E740481C1C}">
                <a14:useLocalDpi xmlns:a14="http://schemas.microsoft.com/office/drawing/2010/main" val="0"/>
              </a:ext>
            </a:extLst>
          </a:blip>
          <a:srcRect/>
          <a:stretch>
            <a:fillRect/>
          </a:stretch>
        </p:blipFill>
        <p:spPr bwMode="auto">
          <a:xfrm>
            <a:off x="210541" y="0"/>
            <a:ext cx="1247036" cy="1283257"/>
          </a:xfrm>
          <a:prstGeom prst="rect">
            <a:avLst/>
          </a:prstGeom>
          <a:gradFill>
            <a:gsLst>
              <a:gs pos="76000">
                <a:schemeClr val="accent2"/>
              </a:gs>
              <a:gs pos="100000">
                <a:schemeClr val="bg2">
                  <a:shade val="98000"/>
                  <a:satMod val="120000"/>
                  <a:lumMod val="98000"/>
                </a:schemeClr>
              </a:gs>
            </a:gsLst>
            <a:lin ang="5400000" scaled="0"/>
          </a:gradFill>
        </p:spPr>
      </p:pic>
      <p:sp>
        <p:nvSpPr>
          <p:cNvPr id="6" name="مربع نص 5"/>
          <p:cNvSpPr txBox="1"/>
          <p:nvPr/>
        </p:nvSpPr>
        <p:spPr>
          <a:xfrm>
            <a:off x="1961618" y="575371"/>
            <a:ext cx="8074152" cy="707886"/>
          </a:xfrm>
          <a:prstGeom prst="rect">
            <a:avLst/>
          </a:prstGeom>
          <a:noFill/>
        </p:spPr>
        <p:txBody>
          <a:bodyPr wrap="square" rtlCol="0">
            <a:spAutoFit/>
          </a:bodyPr>
          <a:lstStyle/>
          <a:p>
            <a:pPr algn="r" rtl="1"/>
            <a:r>
              <a:rPr lang="ar-AE" sz="4000" b="1" dirty="0" smtClean="0">
                <a:latin typeface="Traditional Arabic" panose="02020603050405020304" pitchFamily="18" charset="-78"/>
                <a:cs typeface="Traditional Arabic" panose="02020603050405020304" pitchFamily="18" charset="-78"/>
              </a:rPr>
              <a:t>الوصول الشبكي القائم على الثقة الصفرية-</a:t>
            </a:r>
            <a:r>
              <a:rPr lang="en-US" sz="4000" b="1" dirty="0" smtClean="0">
                <a:latin typeface="Traditional Arabic" panose="02020603050405020304" pitchFamily="18" charset="-78"/>
                <a:cs typeface="Traditional Arabic" panose="02020603050405020304" pitchFamily="18" charset="-78"/>
              </a:rPr>
              <a:t>ZTNA</a:t>
            </a:r>
            <a:endParaRPr lang="en-US" sz="4000" b="1" dirty="0">
              <a:latin typeface="Traditional Arabic" panose="02020603050405020304" pitchFamily="18" charset="-78"/>
              <a:cs typeface="Traditional Arabic" panose="02020603050405020304" pitchFamily="18" charset="-78"/>
            </a:endParaRPr>
          </a:p>
        </p:txBody>
      </p:sp>
      <p:sp>
        <p:nvSpPr>
          <p:cNvPr id="2" name="مستطيل 1"/>
          <p:cNvSpPr/>
          <p:nvPr/>
        </p:nvSpPr>
        <p:spPr>
          <a:xfrm>
            <a:off x="3831336" y="1579588"/>
            <a:ext cx="5910853" cy="2678682"/>
          </a:xfrm>
          <a:prstGeom prst="rect">
            <a:avLst/>
          </a:prstGeom>
        </p:spPr>
        <p:txBody>
          <a:bodyPr wrap="square">
            <a:spAutoFit/>
          </a:bodyPr>
          <a:lstStyle/>
          <a:p>
            <a:pPr algn="r" rtl="1">
              <a:lnSpc>
                <a:spcPct val="107000"/>
              </a:lnSpc>
              <a:spcAft>
                <a:spcPts val="800"/>
              </a:spcAft>
            </a:pPr>
            <a:r>
              <a:rPr lang="ar-AE" sz="2000" b="1" dirty="0">
                <a:latin typeface="Calibri" panose="020F0502020204030204" pitchFamily="34" charset="0"/>
                <a:ea typeface="Calibri" panose="020F0502020204030204" pitchFamily="34" charset="0"/>
                <a:cs typeface="Calibri" panose="020F0502020204030204" pitchFamily="34" charset="0"/>
              </a:rPr>
              <a:t>المكونات الأساسية لمعمارية </a:t>
            </a:r>
            <a:r>
              <a:rPr lang="en-US" sz="2000" b="1" dirty="0">
                <a:latin typeface="Calibri" panose="020F0502020204030204" pitchFamily="34" charset="0"/>
                <a:ea typeface="Calibri" panose="020F0502020204030204" pitchFamily="34" charset="0"/>
                <a:cs typeface="Calibri" panose="020F0502020204030204" pitchFamily="34" charset="0"/>
              </a:rPr>
              <a:t>ZTNA </a:t>
            </a:r>
            <a:endParaRPr lang="ar-AE" sz="2000" b="1" dirty="0" smtClean="0">
              <a:latin typeface="Calibri" panose="020F0502020204030204" pitchFamily="34" charset="0"/>
              <a:ea typeface="Calibri" panose="020F0502020204030204" pitchFamily="34" charset="0"/>
              <a:cs typeface="Calibri" panose="020F0502020204030204" pitchFamily="34" charset="0"/>
            </a:endParaRPr>
          </a:p>
          <a:p>
            <a:pPr marL="285750" indent="-285750" algn="r" rtl="1">
              <a:lnSpc>
                <a:spcPct val="150000"/>
              </a:lnSpc>
              <a:spcAft>
                <a:spcPts val="800"/>
              </a:spcAft>
              <a:buFont typeface="Arial" panose="020B0604020202020204" pitchFamily="34" charset="0"/>
              <a:buChar char="•"/>
            </a:pPr>
            <a:r>
              <a:rPr lang="ar-SA" sz="2000" dirty="0">
                <a:latin typeface="Calibri" panose="020F0502020204030204" pitchFamily="34" charset="0"/>
                <a:ea typeface="Calibri" panose="020F0502020204030204" pitchFamily="34" charset="0"/>
                <a:cs typeface="Calibri" panose="020F0502020204030204" pitchFamily="34" charset="0"/>
              </a:rPr>
              <a:t>مزود الهوية</a:t>
            </a:r>
            <a:r>
              <a:rPr lang="en-US" sz="2000" dirty="0">
                <a:latin typeface="Calibri" panose="020F0502020204030204" pitchFamily="34" charset="0"/>
                <a:ea typeface="Calibri" panose="020F0502020204030204" pitchFamily="34" charset="0"/>
                <a:cs typeface="Calibri" panose="020F0502020204030204" pitchFamily="34" charset="0"/>
              </a:rPr>
              <a:t> (Identity Provider - </a:t>
            </a:r>
            <a:r>
              <a:rPr lang="en-US" sz="2000" dirty="0" err="1">
                <a:latin typeface="Calibri" panose="020F0502020204030204" pitchFamily="34" charset="0"/>
                <a:ea typeface="Calibri" panose="020F0502020204030204" pitchFamily="34" charset="0"/>
                <a:cs typeface="Calibri" panose="020F0502020204030204" pitchFamily="34" charset="0"/>
              </a:rPr>
              <a:t>IdP</a:t>
            </a:r>
            <a:r>
              <a:rPr lang="en-US" sz="2000" dirty="0">
                <a:latin typeface="Calibri" panose="020F0502020204030204" pitchFamily="34" charset="0"/>
                <a:ea typeface="Calibri" panose="020F0502020204030204" pitchFamily="34" charset="0"/>
                <a:cs typeface="Calibri" panose="020F0502020204030204" pitchFamily="34" charset="0"/>
              </a:rPr>
              <a:t>) </a:t>
            </a:r>
            <a:endParaRPr lang="ar-AE" sz="200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lgn="r" rtl="1">
              <a:lnSpc>
                <a:spcPct val="150000"/>
              </a:lnSpc>
              <a:spcAft>
                <a:spcPts val="800"/>
              </a:spcAft>
              <a:buFont typeface="Arial" panose="020B0604020202020204" pitchFamily="34" charset="0"/>
              <a:buChar char="•"/>
            </a:pPr>
            <a:r>
              <a:rPr lang="ar-SA" sz="2000" dirty="0">
                <a:latin typeface="Calibri" panose="020F0502020204030204" pitchFamily="34" charset="0"/>
                <a:ea typeface="Calibri" panose="020F0502020204030204" pitchFamily="34" charset="0"/>
                <a:cs typeface="Calibri" panose="020F0502020204030204" pitchFamily="34" charset="0"/>
              </a:rPr>
              <a:t>محرك السياسات</a:t>
            </a:r>
            <a:r>
              <a:rPr lang="en-US" sz="2000" dirty="0">
                <a:latin typeface="Calibri" panose="020F0502020204030204" pitchFamily="34" charset="0"/>
                <a:ea typeface="Calibri" panose="020F0502020204030204" pitchFamily="34" charset="0"/>
                <a:cs typeface="Calibri" panose="020F0502020204030204" pitchFamily="34" charset="0"/>
              </a:rPr>
              <a:t> (Policy Engine) </a:t>
            </a:r>
            <a:endParaRPr lang="ar-AE" sz="200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lgn="r" rtl="1">
              <a:lnSpc>
                <a:spcPct val="150000"/>
              </a:lnSpc>
              <a:spcAft>
                <a:spcPts val="800"/>
              </a:spcAft>
              <a:buFont typeface="Arial" panose="020B0604020202020204" pitchFamily="34" charset="0"/>
              <a:buChar char="•"/>
            </a:pPr>
            <a:r>
              <a:rPr lang="ar-SA" sz="2000" dirty="0">
                <a:latin typeface="Calibri" panose="020F0502020204030204" pitchFamily="34" charset="0"/>
                <a:ea typeface="Calibri" panose="020F0502020204030204" pitchFamily="34" charset="0"/>
                <a:cs typeface="Calibri" panose="020F0502020204030204" pitchFamily="34" charset="0"/>
              </a:rPr>
              <a:t>بوابة الوصول</a:t>
            </a:r>
            <a:r>
              <a:rPr lang="en-US" sz="2000" dirty="0">
                <a:latin typeface="Calibri" panose="020F0502020204030204" pitchFamily="34" charset="0"/>
                <a:ea typeface="Calibri" panose="020F0502020204030204" pitchFamily="34" charset="0"/>
                <a:cs typeface="Calibri" panose="020F0502020204030204" pitchFamily="34" charset="0"/>
              </a:rPr>
              <a:t> (Access Gateway) </a:t>
            </a:r>
            <a:endParaRPr lang="ar-AE" sz="200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lgn="r" rtl="1">
              <a:lnSpc>
                <a:spcPct val="150000"/>
              </a:lnSpc>
              <a:spcAft>
                <a:spcPts val="800"/>
              </a:spcAft>
              <a:buFont typeface="Arial" panose="020B0604020202020204" pitchFamily="34" charset="0"/>
              <a:buChar char="•"/>
            </a:pPr>
            <a:r>
              <a:rPr lang="ar-SA" sz="2000" dirty="0">
                <a:latin typeface="Calibri" panose="020F0502020204030204" pitchFamily="34" charset="0"/>
                <a:ea typeface="Calibri" panose="020F0502020204030204" pitchFamily="34" charset="0"/>
                <a:cs typeface="Calibri" panose="020F0502020204030204" pitchFamily="34" charset="0"/>
              </a:rPr>
              <a:t>نقطة التنفيذ</a:t>
            </a:r>
            <a:r>
              <a:rPr lang="en-US" sz="2000" dirty="0">
                <a:latin typeface="Calibri" panose="020F0502020204030204" pitchFamily="34" charset="0"/>
                <a:ea typeface="Calibri" panose="020F0502020204030204" pitchFamily="34" charset="0"/>
                <a:cs typeface="Calibri" panose="020F0502020204030204" pitchFamily="34" charset="0"/>
              </a:rPr>
              <a:t> (Enforcement Point) </a:t>
            </a:r>
            <a:endParaRPr lang="en-US" sz="2000"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740359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صورة 6" descr="HIAst"/>
          <p:cNvPicPr/>
          <p:nvPr/>
        </p:nvPicPr>
        <p:blipFill>
          <a:blip r:embed="rId2">
            <a:extLst>
              <a:ext uri="{28A0092B-C50C-407E-A947-70E740481C1C}">
                <a14:useLocalDpi xmlns:a14="http://schemas.microsoft.com/office/drawing/2010/main" val="0"/>
              </a:ext>
            </a:extLst>
          </a:blip>
          <a:srcRect/>
          <a:stretch>
            <a:fillRect/>
          </a:stretch>
        </p:blipFill>
        <p:spPr bwMode="auto">
          <a:xfrm>
            <a:off x="210541" y="0"/>
            <a:ext cx="1247036" cy="1283257"/>
          </a:xfrm>
          <a:prstGeom prst="rect">
            <a:avLst/>
          </a:prstGeom>
          <a:gradFill>
            <a:gsLst>
              <a:gs pos="76000">
                <a:schemeClr val="accent2"/>
              </a:gs>
              <a:gs pos="100000">
                <a:schemeClr val="bg2">
                  <a:shade val="98000"/>
                  <a:satMod val="120000"/>
                  <a:lumMod val="98000"/>
                </a:schemeClr>
              </a:gs>
            </a:gsLst>
            <a:lin ang="5400000" scaled="0"/>
          </a:gradFill>
        </p:spPr>
      </p:pic>
      <p:sp>
        <p:nvSpPr>
          <p:cNvPr id="10" name="مربع نص 9"/>
          <p:cNvSpPr txBox="1"/>
          <p:nvPr/>
        </p:nvSpPr>
        <p:spPr>
          <a:xfrm>
            <a:off x="3134572" y="267282"/>
            <a:ext cx="6278880" cy="738664"/>
          </a:xfrm>
          <a:prstGeom prst="rect">
            <a:avLst/>
          </a:prstGeom>
          <a:noFill/>
        </p:spPr>
        <p:txBody>
          <a:bodyPr wrap="square" rtlCol="0">
            <a:spAutoFit/>
          </a:bodyPr>
          <a:lstStyle/>
          <a:p>
            <a:pPr lvl="0" algn="r" rtl="1" eaLnBrk="0" fontAlgn="base" hangingPunct="0">
              <a:lnSpc>
                <a:spcPct val="150000"/>
              </a:lnSpc>
              <a:spcBef>
                <a:spcPct val="0"/>
              </a:spcBef>
              <a:spcAft>
                <a:spcPct val="0"/>
              </a:spcAft>
            </a:pPr>
            <a:r>
              <a:rPr kumimoji="0" lang="ar-SA" sz="28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تصميم النظام</a:t>
            </a:r>
            <a:r>
              <a:rPr kumimoji="0" lang="en-US" sz="28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(System Design Overview) </a:t>
            </a:r>
          </a:p>
        </p:txBody>
      </p:sp>
      <p:sp>
        <p:nvSpPr>
          <p:cNvPr id="14" name="عنصر نائب لرقم الشريحة 13"/>
          <p:cNvSpPr>
            <a:spLocks noGrp="1"/>
          </p:cNvSpPr>
          <p:nvPr>
            <p:ph type="sldNum" sz="quarter" idx="12"/>
          </p:nvPr>
        </p:nvSpPr>
        <p:spPr/>
        <p:txBody>
          <a:bodyPr/>
          <a:lstStyle/>
          <a:p>
            <a:fld id="{525C70E0-C15F-4ED1-8882-54048B2CF1D5}" type="slidenum">
              <a:rPr lang="en-US" smtClean="0"/>
              <a:t>9</a:t>
            </a:fld>
            <a:endParaRPr lang="en-US"/>
          </a:p>
        </p:txBody>
      </p:sp>
      <p:sp>
        <p:nvSpPr>
          <p:cNvPr id="8" name="مربع نص 7"/>
          <p:cNvSpPr txBox="1"/>
          <p:nvPr/>
        </p:nvSpPr>
        <p:spPr>
          <a:xfrm>
            <a:off x="5623560" y="1130857"/>
            <a:ext cx="2082621" cy="646331"/>
          </a:xfrm>
          <a:prstGeom prst="rect">
            <a:avLst/>
          </a:prstGeom>
          <a:noFill/>
        </p:spPr>
        <p:txBody>
          <a:bodyPr wrap="none" rtlCol="0">
            <a:spAutoFit/>
          </a:bodyPr>
          <a:lstStyle/>
          <a:p>
            <a:r>
              <a:rPr lang="ar-AE" b="1" dirty="0">
                <a:latin typeface="Calibri" panose="020F0502020204030204" pitchFamily="34" charset="0"/>
                <a:ea typeface="Calibri" panose="020F0502020204030204" pitchFamily="34" charset="0"/>
                <a:cs typeface="Calibri" panose="020F0502020204030204" pitchFamily="34" charset="0"/>
              </a:rPr>
              <a:t>مكونات النموذج المقترح</a:t>
            </a:r>
          </a:p>
          <a:p>
            <a:endParaRPr lang="en-US" dirty="0"/>
          </a:p>
        </p:txBody>
      </p:sp>
      <p:sp>
        <p:nvSpPr>
          <p:cNvPr id="9" name="مربع نص 8"/>
          <p:cNvSpPr txBox="1"/>
          <p:nvPr/>
        </p:nvSpPr>
        <p:spPr>
          <a:xfrm>
            <a:off x="2343275" y="2271431"/>
            <a:ext cx="9269041" cy="2169825"/>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b="1" dirty="0" smtClean="0"/>
              <a:t>User Device</a:t>
            </a:r>
            <a:endParaRPr lang="ar-AE" b="1" dirty="0" smtClean="0"/>
          </a:p>
          <a:p>
            <a:pPr marL="285750" indent="-285750">
              <a:lnSpc>
                <a:spcPct val="150000"/>
              </a:lnSpc>
              <a:buFont typeface="Wingdings" panose="05000000000000000000" pitchFamily="2" charset="2"/>
              <a:buChar char="Ø"/>
            </a:pPr>
            <a:r>
              <a:rPr lang="en-US" b="1" dirty="0" err="1" smtClean="0"/>
              <a:t>Keycloak</a:t>
            </a:r>
            <a:r>
              <a:rPr lang="en-US" b="1" dirty="0" smtClean="0"/>
              <a:t> (</a:t>
            </a:r>
            <a:r>
              <a:rPr lang="en-US" b="1" dirty="0" err="1" smtClean="0"/>
              <a:t>IdP</a:t>
            </a:r>
            <a:r>
              <a:rPr lang="en-US" b="1" dirty="0" smtClean="0"/>
              <a:t>)</a:t>
            </a:r>
          </a:p>
          <a:p>
            <a:pPr marL="285750" indent="-285750">
              <a:lnSpc>
                <a:spcPct val="150000"/>
              </a:lnSpc>
              <a:buFont typeface="Wingdings" panose="05000000000000000000" pitchFamily="2" charset="2"/>
              <a:buChar char="Ø"/>
            </a:pPr>
            <a:r>
              <a:rPr lang="en-US" b="1" dirty="0" smtClean="0"/>
              <a:t>Flask Access Gateway</a:t>
            </a:r>
            <a:endParaRPr lang="ar-AE" b="1" dirty="0" smtClean="0"/>
          </a:p>
          <a:p>
            <a:pPr marL="285750" indent="-285750">
              <a:lnSpc>
                <a:spcPct val="150000"/>
              </a:lnSpc>
              <a:buFont typeface="Wingdings" panose="05000000000000000000" pitchFamily="2" charset="2"/>
              <a:buChar char="Ø"/>
            </a:pPr>
            <a:r>
              <a:rPr lang="en-US" b="1" dirty="0" err="1" smtClean="0"/>
              <a:t>WireGuard</a:t>
            </a:r>
            <a:r>
              <a:rPr lang="en-US" b="1" dirty="0" smtClean="0"/>
              <a:t> Secure </a:t>
            </a:r>
            <a:r>
              <a:rPr lang="en-US" b="1" dirty="0"/>
              <a:t>Tunnel Provider</a:t>
            </a:r>
            <a:r>
              <a:rPr lang="ar-AE" b="1" dirty="0" smtClean="0"/>
              <a:t> </a:t>
            </a:r>
          </a:p>
          <a:p>
            <a:pPr marL="285750" indent="-285750">
              <a:lnSpc>
                <a:spcPct val="150000"/>
              </a:lnSpc>
              <a:buFont typeface="Wingdings" panose="05000000000000000000" pitchFamily="2" charset="2"/>
              <a:buChar char="Ø"/>
            </a:pPr>
            <a:r>
              <a:rPr lang="en-US" b="1" dirty="0"/>
              <a:t>Target Resource with Firewall</a:t>
            </a:r>
          </a:p>
        </p:txBody>
      </p:sp>
    </p:spTree>
    <p:extLst>
      <p:ext uri="{BB962C8B-B14F-4D97-AF65-F5344CB8AC3E}">
        <p14:creationId xmlns:p14="http://schemas.microsoft.com/office/powerpoint/2010/main" val="20973762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صر نائب لرقم الشريحة 3"/>
          <p:cNvSpPr>
            <a:spLocks noGrp="1"/>
          </p:cNvSpPr>
          <p:nvPr>
            <p:ph type="sldNum" sz="quarter" idx="12"/>
          </p:nvPr>
        </p:nvSpPr>
        <p:spPr/>
        <p:txBody>
          <a:bodyPr/>
          <a:lstStyle/>
          <a:p>
            <a:fld id="{525C70E0-C15F-4ED1-8882-54048B2CF1D5}" type="slidenum">
              <a:rPr lang="en-US" smtClean="0"/>
              <a:t>10</a:t>
            </a:fld>
            <a:endParaRPr lang="en-US"/>
          </a:p>
        </p:txBody>
      </p:sp>
      <p:sp>
        <p:nvSpPr>
          <p:cNvPr id="5" name="مربع نص 4"/>
          <p:cNvSpPr txBox="1"/>
          <p:nvPr/>
        </p:nvSpPr>
        <p:spPr>
          <a:xfrm>
            <a:off x="2974451" y="641628"/>
            <a:ext cx="6817360" cy="769441"/>
          </a:xfrm>
          <a:prstGeom prst="rect">
            <a:avLst/>
          </a:prstGeom>
          <a:noFill/>
        </p:spPr>
        <p:txBody>
          <a:bodyPr wrap="square" rtlCol="0">
            <a:spAutoFit/>
          </a:bodyPr>
          <a:lstStyle/>
          <a:p>
            <a:pPr algn="ctr" rtl="1"/>
            <a:r>
              <a:rPr lang="ar-AE" sz="4400" b="1" dirty="0">
                <a:latin typeface="Traditional Arabic" panose="02020603050405020304" pitchFamily="18" charset="-78"/>
                <a:cs typeface="Traditional Arabic" panose="02020603050405020304" pitchFamily="18" charset="-78"/>
              </a:rPr>
              <a:t>تصميم النموذج الأمني المقترح</a:t>
            </a:r>
            <a:endParaRPr lang="en-US" sz="4400" b="1" dirty="0">
              <a:latin typeface="Traditional Arabic" panose="02020603050405020304" pitchFamily="18" charset="-78"/>
              <a:cs typeface="Traditional Arabic" panose="02020603050405020304" pitchFamily="18" charset="-78"/>
            </a:endParaRPr>
          </a:p>
        </p:txBody>
      </p:sp>
      <p:pic>
        <p:nvPicPr>
          <p:cNvPr id="12" name="صورة 11" descr="HIAst"/>
          <p:cNvPicPr/>
          <p:nvPr/>
        </p:nvPicPr>
        <p:blipFill>
          <a:blip r:embed="rId2">
            <a:extLst>
              <a:ext uri="{28A0092B-C50C-407E-A947-70E740481C1C}">
                <a14:useLocalDpi xmlns:a14="http://schemas.microsoft.com/office/drawing/2010/main" val="0"/>
              </a:ext>
            </a:extLst>
          </a:blip>
          <a:srcRect/>
          <a:stretch>
            <a:fillRect/>
          </a:stretch>
        </p:blipFill>
        <p:spPr bwMode="auto">
          <a:xfrm>
            <a:off x="210541" y="0"/>
            <a:ext cx="1247036" cy="1283257"/>
          </a:xfrm>
          <a:prstGeom prst="rect">
            <a:avLst/>
          </a:prstGeom>
          <a:gradFill>
            <a:gsLst>
              <a:gs pos="76000">
                <a:schemeClr val="accent2"/>
              </a:gs>
              <a:gs pos="100000">
                <a:schemeClr val="bg2">
                  <a:shade val="98000"/>
                  <a:satMod val="120000"/>
                  <a:lumMod val="98000"/>
                </a:schemeClr>
              </a:gs>
            </a:gsLst>
            <a:lin ang="5400000" scaled="0"/>
          </a:gradFill>
        </p:spPr>
      </p:pic>
      <p:sp>
        <p:nvSpPr>
          <p:cNvPr id="2" name="مربع نص 1"/>
          <p:cNvSpPr txBox="1"/>
          <p:nvPr/>
        </p:nvSpPr>
        <p:spPr>
          <a:xfrm>
            <a:off x="4729473" y="1411069"/>
            <a:ext cx="3307316" cy="369332"/>
          </a:xfrm>
          <a:prstGeom prst="rect">
            <a:avLst/>
          </a:prstGeom>
          <a:noFill/>
        </p:spPr>
        <p:txBody>
          <a:bodyPr wrap="none" rtlCol="0">
            <a:spAutoFit/>
          </a:bodyPr>
          <a:lstStyle/>
          <a:p>
            <a:r>
              <a:rPr lang="ar-SA" b="1" dirty="0"/>
              <a:t>تسلسل عمل النظام المقترح </a:t>
            </a:r>
            <a:endParaRPr lang="en-US" b="1" dirty="0"/>
          </a:p>
        </p:txBody>
      </p:sp>
      <p:pic>
        <p:nvPicPr>
          <p:cNvPr id="8" name="صورة 7"/>
          <p:cNvPicPr>
            <a:picLocks noChangeAspect="1"/>
          </p:cNvPicPr>
          <p:nvPr/>
        </p:nvPicPr>
        <p:blipFill rotWithShape="1">
          <a:blip r:embed="rId3"/>
          <a:srcRect b="16270"/>
          <a:stretch/>
        </p:blipFill>
        <p:spPr>
          <a:xfrm>
            <a:off x="1757362" y="2180510"/>
            <a:ext cx="10434638" cy="4308158"/>
          </a:xfrm>
          <a:prstGeom prst="rect">
            <a:avLst/>
          </a:prstGeom>
        </p:spPr>
      </p:pic>
    </p:spTree>
    <p:extLst>
      <p:ext uri="{BB962C8B-B14F-4D97-AF65-F5344CB8AC3E}">
        <p14:creationId xmlns:p14="http://schemas.microsoft.com/office/powerpoint/2010/main" val="32552035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صر نائب لرقم الشريحة 3"/>
          <p:cNvSpPr>
            <a:spLocks noGrp="1"/>
          </p:cNvSpPr>
          <p:nvPr>
            <p:ph type="sldNum" sz="quarter" idx="12"/>
          </p:nvPr>
        </p:nvSpPr>
        <p:spPr/>
        <p:txBody>
          <a:bodyPr/>
          <a:lstStyle/>
          <a:p>
            <a:fld id="{525C70E0-C15F-4ED1-8882-54048B2CF1D5}" type="slidenum">
              <a:rPr lang="en-US" smtClean="0"/>
              <a:t>11</a:t>
            </a:fld>
            <a:endParaRPr lang="en-US"/>
          </a:p>
        </p:txBody>
      </p:sp>
      <p:sp>
        <p:nvSpPr>
          <p:cNvPr id="5" name="مربع نص 4"/>
          <p:cNvSpPr txBox="1"/>
          <p:nvPr/>
        </p:nvSpPr>
        <p:spPr>
          <a:xfrm>
            <a:off x="2974451" y="641628"/>
            <a:ext cx="6817360" cy="769441"/>
          </a:xfrm>
          <a:prstGeom prst="rect">
            <a:avLst/>
          </a:prstGeom>
          <a:noFill/>
        </p:spPr>
        <p:txBody>
          <a:bodyPr wrap="square" rtlCol="0">
            <a:spAutoFit/>
          </a:bodyPr>
          <a:lstStyle/>
          <a:p>
            <a:pPr algn="ctr" rtl="1"/>
            <a:r>
              <a:rPr lang="ar-AE" sz="4400" b="1" dirty="0">
                <a:latin typeface="Traditional Arabic" panose="02020603050405020304" pitchFamily="18" charset="-78"/>
                <a:cs typeface="Traditional Arabic" panose="02020603050405020304" pitchFamily="18" charset="-78"/>
              </a:rPr>
              <a:t>بيئة العمل وأدوات التنفيذ</a:t>
            </a:r>
            <a:endParaRPr lang="en-US" sz="4400" b="1" dirty="0">
              <a:latin typeface="Traditional Arabic" panose="02020603050405020304" pitchFamily="18" charset="-78"/>
              <a:cs typeface="Traditional Arabic" panose="02020603050405020304" pitchFamily="18" charset="-78"/>
            </a:endParaRPr>
          </a:p>
        </p:txBody>
      </p:sp>
      <p:pic>
        <p:nvPicPr>
          <p:cNvPr id="12" name="صورة 11" descr="HIAst"/>
          <p:cNvPicPr/>
          <p:nvPr/>
        </p:nvPicPr>
        <p:blipFill>
          <a:blip r:embed="rId3">
            <a:extLst>
              <a:ext uri="{28A0092B-C50C-407E-A947-70E740481C1C}">
                <a14:useLocalDpi xmlns:a14="http://schemas.microsoft.com/office/drawing/2010/main" val="0"/>
              </a:ext>
            </a:extLst>
          </a:blip>
          <a:srcRect/>
          <a:stretch>
            <a:fillRect/>
          </a:stretch>
        </p:blipFill>
        <p:spPr bwMode="auto">
          <a:xfrm>
            <a:off x="210541" y="0"/>
            <a:ext cx="1247036" cy="1283257"/>
          </a:xfrm>
          <a:prstGeom prst="rect">
            <a:avLst/>
          </a:prstGeom>
          <a:gradFill>
            <a:gsLst>
              <a:gs pos="76000">
                <a:schemeClr val="accent2"/>
              </a:gs>
              <a:gs pos="100000">
                <a:schemeClr val="bg2">
                  <a:shade val="98000"/>
                  <a:satMod val="120000"/>
                  <a:lumMod val="98000"/>
                </a:schemeClr>
              </a:gs>
            </a:gsLst>
            <a:lin ang="5400000" scaled="0"/>
          </a:gradFill>
        </p:spPr>
      </p:pic>
      <p:pic>
        <p:nvPicPr>
          <p:cNvPr id="9" name="صورة 8"/>
          <p:cNvPicPr>
            <a:picLocks noChangeAspect="1"/>
          </p:cNvPicPr>
          <p:nvPr/>
        </p:nvPicPr>
        <p:blipFill>
          <a:blip r:embed="rId4">
            <a:extLst>
              <a:ext uri="{BEBA8EAE-BF5A-486C-A8C5-ECC9F3942E4B}">
                <a14:imgProps xmlns:a14="http://schemas.microsoft.com/office/drawing/2010/main">
                  <a14:imgLayer r:embed="rId5">
                    <a14:imgEffect>
                      <a14:colorTemperature colorTemp="5295"/>
                    </a14:imgEffect>
                    <a14:imgEffect>
                      <a14:saturation sat="187000"/>
                    </a14:imgEffect>
                  </a14:imgLayer>
                </a14:imgProps>
              </a:ext>
            </a:extLst>
          </a:blip>
          <a:stretch>
            <a:fillRect/>
          </a:stretch>
        </p:blipFill>
        <p:spPr>
          <a:xfrm>
            <a:off x="5569302" y="2809833"/>
            <a:ext cx="2098231" cy="2084832"/>
          </a:xfrm>
          <a:prstGeom prst="ellipse">
            <a:avLst/>
          </a:prstGeom>
          <a:ln>
            <a:noFill/>
          </a:ln>
          <a:effectLst/>
        </p:spPr>
      </p:pic>
      <p:pic>
        <p:nvPicPr>
          <p:cNvPr id="10" name="صورة 9"/>
          <p:cNvPicPr>
            <a:picLocks noChangeAspect="1"/>
          </p:cNvPicPr>
          <p:nvPr/>
        </p:nvPicPr>
        <p:blipFill>
          <a:blip r:embed="rId6">
            <a:extLst>
              <a:ext uri="{BEBA8EAE-BF5A-486C-A8C5-ECC9F3942E4B}">
                <a14:imgProps xmlns:a14="http://schemas.microsoft.com/office/drawing/2010/main">
                  <a14:imgLayer r:embed="rId7">
                    <a14:imgEffect>
                      <a14:colorTemperature colorTemp="5370"/>
                    </a14:imgEffect>
                  </a14:imgLayer>
                </a14:imgProps>
              </a:ext>
            </a:extLst>
          </a:blip>
          <a:stretch>
            <a:fillRect/>
          </a:stretch>
        </p:blipFill>
        <p:spPr>
          <a:xfrm>
            <a:off x="2573988" y="1675365"/>
            <a:ext cx="2183048" cy="2084832"/>
          </a:xfrm>
          <a:prstGeom prst="ellipse">
            <a:avLst/>
          </a:prstGeom>
          <a:ln>
            <a:noFill/>
          </a:ln>
          <a:effectLst/>
        </p:spPr>
      </p:pic>
      <p:pic>
        <p:nvPicPr>
          <p:cNvPr id="11" name="صورة 10"/>
          <p:cNvPicPr>
            <a:picLocks noChangeAspect="1"/>
          </p:cNvPicPr>
          <p:nvPr/>
        </p:nvPicPr>
        <p:blipFill>
          <a:blip r:embed="rId8">
            <a:extLst>
              <a:ext uri="{BEBA8EAE-BF5A-486C-A8C5-ECC9F3942E4B}">
                <a14:imgProps xmlns:a14="http://schemas.microsoft.com/office/drawing/2010/main">
                  <a14:imgLayer r:embed="rId9">
                    <a14:imgEffect>
                      <a14:colorTemperature colorTemp="4670"/>
                    </a14:imgEffect>
                  </a14:imgLayer>
                </a14:imgProps>
              </a:ext>
            </a:extLst>
          </a:blip>
          <a:stretch>
            <a:fillRect/>
          </a:stretch>
        </p:blipFill>
        <p:spPr>
          <a:xfrm>
            <a:off x="2672204" y="4111884"/>
            <a:ext cx="2084832" cy="1988741"/>
          </a:xfrm>
          <a:prstGeom prst="ellipse">
            <a:avLst/>
          </a:prstGeom>
          <a:ln>
            <a:noFill/>
          </a:ln>
          <a:effectLst/>
        </p:spPr>
      </p:pic>
      <p:pic>
        <p:nvPicPr>
          <p:cNvPr id="13" name="صورة 12"/>
          <p:cNvPicPr>
            <a:picLocks noChangeAspect="1"/>
          </p:cNvPicPr>
          <p:nvPr/>
        </p:nvPicPr>
        <p:blipFill>
          <a:blip r:embed="rId10">
            <a:extLst>
              <a:ext uri="{BEBA8EAE-BF5A-486C-A8C5-ECC9F3942E4B}">
                <a14:imgProps xmlns:a14="http://schemas.microsoft.com/office/drawing/2010/main">
                  <a14:imgLayer r:embed="rId11">
                    <a14:imgEffect>
                      <a14:colorTemperature colorTemp="4670"/>
                    </a14:imgEffect>
                    <a14:imgEffect>
                      <a14:saturation sat="341000"/>
                    </a14:imgEffect>
                  </a14:imgLayer>
                </a14:imgProps>
              </a:ext>
            </a:extLst>
          </a:blip>
          <a:stretch>
            <a:fillRect/>
          </a:stretch>
        </p:blipFill>
        <p:spPr>
          <a:xfrm>
            <a:off x="8824957" y="4128294"/>
            <a:ext cx="2084832" cy="1955919"/>
          </a:xfrm>
          <a:prstGeom prst="ellipse">
            <a:avLst/>
          </a:prstGeom>
          <a:solidFill>
            <a:schemeClr val="accent1"/>
          </a:solidFill>
          <a:ln>
            <a:noFill/>
          </a:ln>
          <a:effectLst/>
        </p:spPr>
      </p:pic>
      <p:pic>
        <p:nvPicPr>
          <p:cNvPr id="15" name="صورة 14"/>
          <p:cNvPicPr>
            <a:picLocks noChangeAspect="1"/>
          </p:cNvPicPr>
          <p:nvPr/>
        </p:nvPicPr>
        <p:blipFill>
          <a:blip r:embed="rId12">
            <a:extLst>
              <a:ext uri="{BEBA8EAE-BF5A-486C-A8C5-ECC9F3942E4B}">
                <a14:imgProps xmlns:a14="http://schemas.microsoft.com/office/drawing/2010/main">
                  <a14:imgLayer r:embed="rId13">
                    <a14:imgEffect>
                      <a14:colorTemperature colorTemp="5817"/>
                    </a14:imgEffect>
                  </a14:imgLayer>
                </a14:imgProps>
              </a:ext>
            </a:extLst>
          </a:blip>
          <a:stretch>
            <a:fillRect/>
          </a:stretch>
        </p:blipFill>
        <p:spPr>
          <a:xfrm>
            <a:off x="8479799" y="1725773"/>
            <a:ext cx="2429990" cy="1984015"/>
          </a:xfrm>
          <a:prstGeom prst="ellipse">
            <a:avLst/>
          </a:prstGeom>
          <a:ln>
            <a:noFill/>
          </a:ln>
          <a:effectLst/>
        </p:spPr>
      </p:pic>
    </p:spTree>
    <p:extLst>
      <p:ext uri="{BB962C8B-B14F-4D97-AF65-F5344CB8AC3E}">
        <p14:creationId xmlns:p14="http://schemas.microsoft.com/office/powerpoint/2010/main" val="29255439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صر نائب لرقم الشريحة 3"/>
          <p:cNvSpPr>
            <a:spLocks noGrp="1"/>
          </p:cNvSpPr>
          <p:nvPr>
            <p:ph type="sldNum" sz="quarter" idx="12"/>
          </p:nvPr>
        </p:nvSpPr>
        <p:spPr/>
        <p:txBody>
          <a:bodyPr/>
          <a:lstStyle/>
          <a:p>
            <a:fld id="{525C70E0-C15F-4ED1-8882-54048B2CF1D5}" type="slidenum">
              <a:rPr lang="en-US" smtClean="0"/>
              <a:t>12</a:t>
            </a:fld>
            <a:endParaRPr lang="en-US"/>
          </a:p>
        </p:txBody>
      </p:sp>
      <p:sp>
        <p:nvSpPr>
          <p:cNvPr id="5" name="مربع نص 4"/>
          <p:cNvSpPr txBox="1"/>
          <p:nvPr/>
        </p:nvSpPr>
        <p:spPr>
          <a:xfrm>
            <a:off x="2974451" y="641628"/>
            <a:ext cx="6817360" cy="769441"/>
          </a:xfrm>
          <a:prstGeom prst="rect">
            <a:avLst/>
          </a:prstGeom>
          <a:noFill/>
        </p:spPr>
        <p:txBody>
          <a:bodyPr wrap="square" rtlCol="0">
            <a:spAutoFit/>
          </a:bodyPr>
          <a:lstStyle/>
          <a:p>
            <a:pPr algn="ctr" rtl="1"/>
            <a:r>
              <a:rPr lang="ar-AE" sz="4400" b="1" dirty="0" smtClean="0">
                <a:latin typeface="Traditional Arabic" panose="02020603050405020304" pitchFamily="18" charset="-78"/>
                <a:cs typeface="Traditional Arabic" panose="02020603050405020304" pitchFamily="18" charset="-78"/>
              </a:rPr>
              <a:t>التنفيذ </a:t>
            </a:r>
            <a:r>
              <a:rPr lang="ar-AE" sz="4400" b="1" dirty="0" smtClean="0">
                <a:latin typeface="Traditional Arabic" panose="02020603050405020304" pitchFamily="18" charset="-78"/>
                <a:cs typeface="Traditional Arabic" panose="02020603050405020304" pitchFamily="18" charset="-78"/>
              </a:rPr>
              <a:t>العملي</a:t>
            </a:r>
            <a:endParaRPr lang="en-US" sz="4400" b="1" dirty="0">
              <a:latin typeface="Traditional Arabic" panose="02020603050405020304" pitchFamily="18" charset="-78"/>
              <a:cs typeface="Traditional Arabic" panose="02020603050405020304" pitchFamily="18" charset="-78"/>
            </a:endParaRPr>
          </a:p>
        </p:txBody>
      </p:sp>
      <p:pic>
        <p:nvPicPr>
          <p:cNvPr id="12" name="صورة 11" descr="HIAst"/>
          <p:cNvPicPr/>
          <p:nvPr/>
        </p:nvPicPr>
        <p:blipFill>
          <a:blip r:embed="rId2">
            <a:extLst>
              <a:ext uri="{28A0092B-C50C-407E-A947-70E740481C1C}">
                <a14:useLocalDpi xmlns:a14="http://schemas.microsoft.com/office/drawing/2010/main" val="0"/>
              </a:ext>
            </a:extLst>
          </a:blip>
          <a:srcRect/>
          <a:stretch>
            <a:fillRect/>
          </a:stretch>
        </p:blipFill>
        <p:spPr bwMode="auto">
          <a:xfrm>
            <a:off x="210541" y="0"/>
            <a:ext cx="1247036" cy="1283257"/>
          </a:xfrm>
          <a:prstGeom prst="rect">
            <a:avLst/>
          </a:prstGeom>
          <a:gradFill>
            <a:gsLst>
              <a:gs pos="76000">
                <a:schemeClr val="accent2"/>
              </a:gs>
              <a:gs pos="100000">
                <a:schemeClr val="bg2">
                  <a:shade val="98000"/>
                  <a:satMod val="120000"/>
                  <a:lumMod val="98000"/>
                </a:schemeClr>
              </a:gs>
            </a:gsLst>
            <a:lin ang="5400000" scaled="0"/>
          </a:gradFill>
        </p:spPr>
      </p:pic>
      <p:sp>
        <p:nvSpPr>
          <p:cNvPr id="2" name="مربع نص 1"/>
          <p:cNvSpPr txBox="1"/>
          <p:nvPr/>
        </p:nvSpPr>
        <p:spPr>
          <a:xfrm>
            <a:off x="3700387" y="1359945"/>
            <a:ext cx="5321807" cy="461665"/>
          </a:xfrm>
          <a:prstGeom prst="rect">
            <a:avLst/>
          </a:prstGeom>
          <a:noFill/>
        </p:spPr>
        <p:txBody>
          <a:bodyPr wrap="square" rtlCol="0">
            <a:spAutoFit/>
          </a:bodyPr>
          <a:lstStyle/>
          <a:p>
            <a:pPr algn="ctr" rtl="1"/>
            <a:r>
              <a:rPr lang="ar-AE" sz="2400" dirty="0" smtClean="0"/>
              <a:t> معمارية الشبكة</a:t>
            </a:r>
            <a:endParaRPr lang="en-US" sz="2400" dirty="0"/>
          </a:p>
        </p:txBody>
      </p:sp>
      <p:pic>
        <p:nvPicPr>
          <p:cNvPr id="7" name="صورة 6"/>
          <p:cNvPicPr/>
          <p:nvPr/>
        </p:nvPicPr>
        <p:blipFill>
          <a:blip r:embed="rId3">
            <a:extLst>
              <a:ext uri="{28A0092B-C50C-407E-A947-70E740481C1C}">
                <a14:useLocalDpi xmlns:a14="http://schemas.microsoft.com/office/drawing/2010/main" val="0"/>
              </a:ext>
            </a:extLst>
          </a:blip>
          <a:stretch>
            <a:fillRect/>
          </a:stretch>
        </p:blipFill>
        <p:spPr>
          <a:xfrm>
            <a:off x="2974451" y="2539927"/>
            <a:ext cx="7447304" cy="3608625"/>
          </a:xfrm>
          <a:prstGeom prst="rect">
            <a:avLst/>
          </a:prstGeom>
        </p:spPr>
      </p:pic>
    </p:spTree>
    <p:extLst>
      <p:ext uri="{BB962C8B-B14F-4D97-AF65-F5344CB8AC3E}">
        <p14:creationId xmlns:p14="http://schemas.microsoft.com/office/powerpoint/2010/main" val="18899596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صر نائب لرقم الشريحة 3"/>
          <p:cNvSpPr>
            <a:spLocks noGrp="1"/>
          </p:cNvSpPr>
          <p:nvPr>
            <p:ph type="sldNum" sz="quarter" idx="12"/>
          </p:nvPr>
        </p:nvSpPr>
        <p:spPr/>
        <p:txBody>
          <a:bodyPr/>
          <a:lstStyle/>
          <a:p>
            <a:fld id="{525C70E0-C15F-4ED1-8882-54048B2CF1D5}" type="slidenum">
              <a:rPr lang="en-US" smtClean="0"/>
              <a:t>13</a:t>
            </a:fld>
            <a:endParaRPr lang="en-US"/>
          </a:p>
        </p:txBody>
      </p:sp>
      <p:sp>
        <p:nvSpPr>
          <p:cNvPr id="5" name="مربع نص 4"/>
          <p:cNvSpPr txBox="1"/>
          <p:nvPr/>
        </p:nvSpPr>
        <p:spPr>
          <a:xfrm>
            <a:off x="2974451" y="641628"/>
            <a:ext cx="6817360" cy="769441"/>
          </a:xfrm>
          <a:prstGeom prst="rect">
            <a:avLst/>
          </a:prstGeom>
          <a:noFill/>
        </p:spPr>
        <p:txBody>
          <a:bodyPr wrap="square" rtlCol="0">
            <a:spAutoFit/>
          </a:bodyPr>
          <a:lstStyle/>
          <a:p>
            <a:pPr algn="ctr" rtl="1"/>
            <a:r>
              <a:rPr lang="ar-AE" sz="4400" b="1" dirty="0" smtClean="0">
                <a:latin typeface="Traditional Arabic" panose="02020603050405020304" pitchFamily="18" charset="-78"/>
                <a:cs typeface="Traditional Arabic" panose="02020603050405020304" pitchFamily="18" charset="-78"/>
              </a:rPr>
              <a:t>التنفيذ العملي</a:t>
            </a:r>
            <a:endParaRPr lang="en-US" sz="4400" b="1" dirty="0">
              <a:latin typeface="Traditional Arabic" panose="02020603050405020304" pitchFamily="18" charset="-78"/>
              <a:cs typeface="Traditional Arabic" panose="02020603050405020304" pitchFamily="18" charset="-78"/>
            </a:endParaRPr>
          </a:p>
        </p:txBody>
      </p:sp>
      <p:pic>
        <p:nvPicPr>
          <p:cNvPr id="12" name="صورة 11" descr="HIAst"/>
          <p:cNvPicPr/>
          <p:nvPr/>
        </p:nvPicPr>
        <p:blipFill>
          <a:blip r:embed="rId2">
            <a:extLst>
              <a:ext uri="{28A0092B-C50C-407E-A947-70E740481C1C}">
                <a14:useLocalDpi xmlns:a14="http://schemas.microsoft.com/office/drawing/2010/main" val="0"/>
              </a:ext>
            </a:extLst>
          </a:blip>
          <a:srcRect/>
          <a:stretch>
            <a:fillRect/>
          </a:stretch>
        </p:blipFill>
        <p:spPr bwMode="auto">
          <a:xfrm>
            <a:off x="210541" y="0"/>
            <a:ext cx="1247036" cy="1283257"/>
          </a:xfrm>
          <a:prstGeom prst="rect">
            <a:avLst/>
          </a:prstGeom>
          <a:gradFill>
            <a:gsLst>
              <a:gs pos="76000">
                <a:schemeClr val="accent2"/>
              </a:gs>
              <a:gs pos="100000">
                <a:schemeClr val="bg2">
                  <a:shade val="98000"/>
                  <a:satMod val="120000"/>
                  <a:lumMod val="98000"/>
                </a:schemeClr>
              </a:gs>
            </a:gsLst>
            <a:lin ang="5400000" scaled="0"/>
          </a:gradFill>
        </p:spPr>
      </p:pic>
      <p:sp>
        <p:nvSpPr>
          <p:cNvPr id="2" name="مربع نص 1"/>
          <p:cNvSpPr txBox="1"/>
          <p:nvPr/>
        </p:nvSpPr>
        <p:spPr>
          <a:xfrm>
            <a:off x="3700387" y="1359945"/>
            <a:ext cx="5321807" cy="523220"/>
          </a:xfrm>
          <a:prstGeom prst="rect">
            <a:avLst/>
          </a:prstGeom>
          <a:noFill/>
        </p:spPr>
        <p:txBody>
          <a:bodyPr wrap="square" rtlCol="0">
            <a:spAutoFit/>
          </a:bodyPr>
          <a:lstStyle/>
          <a:p>
            <a:pPr algn="ctr" rtl="1"/>
            <a:r>
              <a:rPr lang="ar-AE" sz="2800" dirty="0" err="1" smtClean="0">
                <a:latin typeface="Calibri" panose="020F0502020204030204" pitchFamily="34" charset="0"/>
                <a:ea typeface="Calibri" panose="020F0502020204030204" pitchFamily="34" charset="0"/>
                <a:cs typeface="Calibri" panose="020F0502020204030204" pitchFamily="34" charset="0"/>
              </a:rPr>
              <a:t>إعدادت</a:t>
            </a:r>
            <a:r>
              <a:rPr lang="ar-AE" sz="2800" dirty="0" smtClean="0">
                <a:latin typeface="Calibri" panose="020F0502020204030204" pitchFamily="34" charset="0"/>
                <a:ea typeface="Calibri" panose="020F0502020204030204" pitchFamily="34" charset="0"/>
                <a:cs typeface="Calibri" panose="020F0502020204030204" pitchFamily="34" charset="0"/>
              </a:rPr>
              <a:t>  </a:t>
            </a:r>
            <a:r>
              <a:rPr lang="en-US" sz="2800" dirty="0" err="1" smtClean="0">
                <a:latin typeface="Calibri" panose="020F0502020204030204" pitchFamily="34" charset="0"/>
                <a:ea typeface="Calibri" panose="020F0502020204030204" pitchFamily="34" charset="0"/>
                <a:cs typeface="Calibri" panose="020F0502020204030204" pitchFamily="34" charset="0"/>
              </a:rPr>
              <a:t>Keycloak</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8" name="مربع نص 7"/>
          <p:cNvSpPr txBox="1"/>
          <p:nvPr/>
        </p:nvSpPr>
        <p:spPr>
          <a:xfrm>
            <a:off x="6605752" y="1821610"/>
            <a:ext cx="4255112" cy="3416320"/>
          </a:xfrm>
          <a:prstGeom prst="rect">
            <a:avLst/>
          </a:prstGeom>
          <a:noFill/>
        </p:spPr>
        <p:txBody>
          <a:bodyPr wrap="square" rtlCol="0">
            <a:spAutoFit/>
          </a:bodyPr>
          <a:lstStyle/>
          <a:p>
            <a:pPr marL="285750" indent="-285750" algn="r" rtl="1">
              <a:lnSpc>
                <a:spcPct val="200000"/>
              </a:lnSpc>
              <a:buFont typeface="Arial" panose="020B0604020202020204" pitchFamily="34" charset="0"/>
              <a:buChar char="•"/>
            </a:pPr>
            <a:r>
              <a:rPr lang="ar-AE" dirty="0" smtClean="0">
                <a:latin typeface="Calibri" panose="020F0502020204030204" pitchFamily="34" charset="0"/>
                <a:ea typeface="Calibri" panose="020F0502020204030204" pitchFamily="34" charset="0"/>
                <a:cs typeface="Calibri" panose="020F0502020204030204" pitchFamily="34" charset="0"/>
              </a:rPr>
              <a:t>إعداد النطاق </a:t>
            </a:r>
            <a:r>
              <a:rPr lang="en-US" dirty="0" smtClean="0">
                <a:latin typeface="Calibri" panose="020F0502020204030204" pitchFamily="34" charset="0"/>
                <a:ea typeface="Calibri" panose="020F0502020204030204" pitchFamily="34" charset="0"/>
                <a:cs typeface="Calibri" panose="020F0502020204030204" pitchFamily="34" charset="0"/>
              </a:rPr>
              <a:t>Realm</a:t>
            </a:r>
          </a:p>
          <a:p>
            <a:pPr marL="285750" indent="-285750" algn="r" rtl="1">
              <a:lnSpc>
                <a:spcPct val="200000"/>
              </a:lnSpc>
              <a:buFont typeface="Arial" panose="020B0604020202020204" pitchFamily="34" charset="0"/>
              <a:buChar char="•"/>
            </a:pPr>
            <a:r>
              <a:rPr lang="ar-AE" dirty="0" smtClean="0">
                <a:latin typeface="Calibri" panose="020F0502020204030204" pitchFamily="34" charset="0"/>
                <a:ea typeface="Calibri" panose="020F0502020204030204" pitchFamily="34" charset="0"/>
                <a:cs typeface="Calibri" panose="020F0502020204030204" pitchFamily="34" charset="0"/>
              </a:rPr>
              <a:t>إعداد المستخدمين</a:t>
            </a:r>
            <a:r>
              <a:rPr lang="en-US" dirty="0" smtClean="0">
                <a:latin typeface="Calibri" panose="020F0502020204030204" pitchFamily="34" charset="0"/>
                <a:ea typeface="Calibri" panose="020F0502020204030204" pitchFamily="34" charset="0"/>
                <a:cs typeface="Calibri" panose="020F0502020204030204" pitchFamily="34" charset="0"/>
              </a:rPr>
              <a:t>Users - </a:t>
            </a:r>
            <a:endParaRPr lang="ar-AE" dirty="0" smtClean="0">
              <a:latin typeface="Calibri" panose="020F0502020204030204" pitchFamily="34" charset="0"/>
              <a:ea typeface="Calibri" panose="020F0502020204030204" pitchFamily="34" charset="0"/>
              <a:cs typeface="Calibri" panose="020F0502020204030204" pitchFamily="34" charset="0"/>
            </a:endParaRPr>
          </a:p>
          <a:p>
            <a:pPr marL="285750" indent="-285750" algn="r" rtl="1">
              <a:lnSpc>
                <a:spcPct val="200000"/>
              </a:lnSpc>
              <a:buFont typeface="Arial" panose="020B0604020202020204" pitchFamily="34" charset="0"/>
              <a:buChar char="•"/>
            </a:pPr>
            <a:r>
              <a:rPr lang="ar-AE" dirty="0" smtClean="0">
                <a:latin typeface="Calibri" panose="020F0502020204030204" pitchFamily="34" charset="0"/>
                <a:ea typeface="Calibri" panose="020F0502020204030204" pitchFamily="34" charset="0"/>
                <a:cs typeface="Calibri" panose="020F0502020204030204" pitchFamily="34" charset="0"/>
              </a:rPr>
              <a:t>إعداد أدوار المستخدمين</a:t>
            </a:r>
            <a:r>
              <a:rPr lang="en-US" dirty="0" smtClean="0">
                <a:latin typeface="Calibri" panose="020F0502020204030204" pitchFamily="34" charset="0"/>
                <a:ea typeface="Calibri" panose="020F0502020204030204" pitchFamily="34" charset="0"/>
                <a:cs typeface="Calibri" panose="020F0502020204030204" pitchFamily="34" charset="0"/>
              </a:rPr>
              <a:t>Roles - </a:t>
            </a:r>
            <a:endParaRPr lang="ar-AE" dirty="0" smtClean="0">
              <a:latin typeface="Calibri" panose="020F0502020204030204" pitchFamily="34" charset="0"/>
              <a:ea typeface="Calibri" panose="020F0502020204030204" pitchFamily="34" charset="0"/>
              <a:cs typeface="Calibri" panose="020F0502020204030204" pitchFamily="34" charset="0"/>
            </a:endParaRPr>
          </a:p>
          <a:p>
            <a:pPr marL="285750" indent="-285750" algn="r" rtl="1">
              <a:lnSpc>
                <a:spcPct val="200000"/>
              </a:lnSpc>
              <a:buFont typeface="Arial" panose="020B0604020202020204" pitchFamily="34" charset="0"/>
              <a:buChar char="•"/>
            </a:pPr>
            <a:r>
              <a:rPr lang="ar-AE" dirty="0" smtClean="0">
                <a:latin typeface="Calibri" panose="020F0502020204030204" pitchFamily="34" charset="0"/>
                <a:ea typeface="Calibri" panose="020F0502020204030204" pitchFamily="34" charset="0"/>
                <a:cs typeface="Calibri" panose="020F0502020204030204" pitchFamily="34" charset="0"/>
              </a:rPr>
              <a:t>إعداد العميل </a:t>
            </a:r>
            <a:r>
              <a:rPr lang="en-US" dirty="0" err="1" smtClean="0">
                <a:latin typeface="Calibri" panose="020F0502020204030204" pitchFamily="34" charset="0"/>
                <a:ea typeface="Calibri" panose="020F0502020204030204" pitchFamily="34" charset="0"/>
                <a:cs typeface="Calibri" panose="020F0502020204030204" pitchFamily="34" charset="0"/>
              </a:rPr>
              <a:t>vpn</a:t>
            </a:r>
            <a:r>
              <a:rPr lang="en-US" dirty="0" smtClean="0">
                <a:latin typeface="Calibri" panose="020F0502020204030204" pitchFamily="34" charset="0"/>
                <a:ea typeface="Calibri" panose="020F0502020204030204" pitchFamily="34" charset="0"/>
                <a:cs typeface="Calibri" panose="020F0502020204030204" pitchFamily="34" charset="0"/>
              </a:rPr>
              <a:t>-access-client</a:t>
            </a:r>
          </a:p>
          <a:p>
            <a:pPr marL="285750" indent="-285750" algn="r" rtl="1">
              <a:lnSpc>
                <a:spcPct val="200000"/>
              </a:lnSpc>
              <a:buFont typeface="Arial" panose="020B0604020202020204" pitchFamily="34" charset="0"/>
              <a:buChar char="•"/>
            </a:pPr>
            <a:r>
              <a:rPr lang="ar-AE" dirty="0" smtClean="0">
                <a:latin typeface="Calibri" panose="020F0502020204030204" pitchFamily="34" charset="0"/>
                <a:ea typeface="Calibri" panose="020F0502020204030204" pitchFamily="34" charset="0"/>
                <a:cs typeface="Calibri" panose="020F0502020204030204" pitchFamily="34" charset="0"/>
              </a:rPr>
              <a:t>المصادقة متعددة العوامل </a:t>
            </a:r>
            <a:r>
              <a:rPr lang="en-US" dirty="0" smtClean="0">
                <a:latin typeface="Calibri" panose="020F0502020204030204" pitchFamily="34" charset="0"/>
                <a:ea typeface="Calibri" panose="020F0502020204030204" pitchFamily="34" charset="0"/>
                <a:cs typeface="Calibri" panose="020F0502020204030204" pitchFamily="34" charset="0"/>
              </a:rPr>
              <a:t>MFA – </a:t>
            </a:r>
            <a:endParaRPr lang="ar-AE" dirty="0" smtClean="0">
              <a:latin typeface="Calibri" panose="020F0502020204030204" pitchFamily="34" charset="0"/>
              <a:ea typeface="Calibri" panose="020F0502020204030204" pitchFamily="34" charset="0"/>
              <a:cs typeface="Calibri" panose="020F0502020204030204" pitchFamily="34" charset="0"/>
            </a:endParaRPr>
          </a:p>
          <a:p>
            <a:pPr marL="285750" indent="-285750" algn="r" rtl="1">
              <a:lnSpc>
                <a:spcPct val="200000"/>
              </a:lnSpc>
              <a:buFont typeface="Arial" panose="020B0604020202020204" pitchFamily="34" charset="0"/>
              <a:buChar char="•"/>
            </a:pPr>
            <a:r>
              <a:rPr lang="ar-AE" dirty="0" smtClean="0">
                <a:latin typeface="Calibri" panose="020F0502020204030204" pitchFamily="34" charset="0"/>
                <a:ea typeface="Calibri" panose="020F0502020204030204" pitchFamily="34" charset="0"/>
                <a:cs typeface="Calibri" panose="020F0502020204030204" pitchFamily="34" charset="0"/>
              </a:rPr>
              <a:t>توليد </a:t>
            </a:r>
            <a:r>
              <a:rPr lang="en-US" dirty="0" smtClean="0">
                <a:latin typeface="Calibri" panose="020F0502020204030204" pitchFamily="34" charset="0"/>
                <a:ea typeface="Calibri" panose="020F0502020204030204" pitchFamily="34" charset="0"/>
                <a:cs typeface="Calibri" panose="020F0502020204030204" pitchFamily="34" charset="0"/>
              </a:rPr>
              <a:t>Access and Refresh Tokens</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795157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صر نائب لرقم الشريحة 3"/>
          <p:cNvSpPr>
            <a:spLocks noGrp="1"/>
          </p:cNvSpPr>
          <p:nvPr>
            <p:ph type="sldNum" sz="quarter" idx="12"/>
          </p:nvPr>
        </p:nvSpPr>
        <p:spPr/>
        <p:txBody>
          <a:bodyPr/>
          <a:lstStyle/>
          <a:p>
            <a:fld id="{525C70E0-C15F-4ED1-8882-54048B2CF1D5}" type="slidenum">
              <a:rPr lang="en-US" smtClean="0"/>
              <a:t>14</a:t>
            </a:fld>
            <a:endParaRPr lang="en-US"/>
          </a:p>
        </p:txBody>
      </p:sp>
      <p:sp>
        <p:nvSpPr>
          <p:cNvPr id="5" name="مربع نص 4"/>
          <p:cNvSpPr txBox="1"/>
          <p:nvPr/>
        </p:nvSpPr>
        <p:spPr>
          <a:xfrm>
            <a:off x="2033040" y="513816"/>
            <a:ext cx="8199494" cy="769441"/>
          </a:xfrm>
          <a:prstGeom prst="rect">
            <a:avLst/>
          </a:prstGeom>
          <a:noFill/>
        </p:spPr>
        <p:txBody>
          <a:bodyPr wrap="square" rtlCol="0">
            <a:spAutoFit/>
          </a:bodyPr>
          <a:lstStyle/>
          <a:p>
            <a:pPr algn="ctr" rtl="1"/>
            <a:r>
              <a:rPr lang="ar-AE" sz="4400" b="1" dirty="0" smtClean="0">
                <a:latin typeface="Traditional Arabic" panose="02020603050405020304" pitchFamily="18" charset="-78"/>
                <a:cs typeface="Traditional Arabic" panose="02020603050405020304" pitchFamily="18" charset="-78"/>
              </a:rPr>
              <a:t>التنفيذ العملي</a:t>
            </a:r>
            <a:endParaRPr lang="en-US" sz="4400" b="1" dirty="0">
              <a:latin typeface="Traditional Arabic" panose="02020603050405020304" pitchFamily="18" charset="-78"/>
              <a:cs typeface="Traditional Arabic" panose="02020603050405020304" pitchFamily="18" charset="-78"/>
            </a:endParaRPr>
          </a:p>
        </p:txBody>
      </p:sp>
      <p:pic>
        <p:nvPicPr>
          <p:cNvPr id="12" name="صورة 11" descr="HIAst"/>
          <p:cNvPicPr/>
          <p:nvPr/>
        </p:nvPicPr>
        <p:blipFill>
          <a:blip r:embed="rId2">
            <a:extLst>
              <a:ext uri="{28A0092B-C50C-407E-A947-70E740481C1C}">
                <a14:useLocalDpi xmlns:a14="http://schemas.microsoft.com/office/drawing/2010/main" val="0"/>
              </a:ext>
            </a:extLst>
          </a:blip>
          <a:srcRect/>
          <a:stretch>
            <a:fillRect/>
          </a:stretch>
        </p:blipFill>
        <p:spPr bwMode="auto">
          <a:xfrm>
            <a:off x="210541" y="0"/>
            <a:ext cx="1247036" cy="1283257"/>
          </a:xfrm>
          <a:prstGeom prst="rect">
            <a:avLst/>
          </a:prstGeom>
          <a:gradFill>
            <a:gsLst>
              <a:gs pos="76000">
                <a:schemeClr val="accent2"/>
              </a:gs>
              <a:gs pos="100000">
                <a:schemeClr val="bg2">
                  <a:shade val="98000"/>
                  <a:satMod val="120000"/>
                  <a:lumMod val="98000"/>
                </a:schemeClr>
              </a:gs>
            </a:gsLst>
            <a:lin ang="5400000" scaled="0"/>
          </a:gradFill>
        </p:spPr>
      </p:pic>
      <p:sp>
        <p:nvSpPr>
          <p:cNvPr id="2" name="مربع نص 1"/>
          <p:cNvSpPr txBox="1"/>
          <p:nvPr/>
        </p:nvSpPr>
        <p:spPr>
          <a:xfrm>
            <a:off x="3700387" y="1359945"/>
            <a:ext cx="5321807" cy="523220"/>
          </a:xfrm>
          <a:prstGeom prst="rect">
            <a:avLst/>
          </a:prstGeom>
          <a:noFill/>
        </p:spPr>
        <p:txBody>
          <a:bodyPr wrap="square" rtlCol="0">
            <a:spAutoFit/>
          </a:bodyPr>
          <a:lstStyle/>
          <a:p>
            <a:pPr algn="ctr" rtl="1"/>
            <a:r>
              <a:rPr lang="en-US" sz="2800" dirty="0" smtClean="0">
                <a:latin typeface="Calibri" panose="020F0502020204030204" pitchFamily="34" charset="0"/>
                <a:ea typeface="Calibri" panose="020F0502020204030204" pitchFamily="34" charset="0"/>
                <a:cs typeface="Calibri" panose="020F0502020204030204" pitchFamily="34" charset="0"/>
              </a:rPr>
              <a:t>Flask </a:t>
            </a:r>
            <a:r>
              <a:rPr lang="ar-AE" sz="2800" dirty="0" smtClean="0">
                <a:latin typeface="Calibri" panose="020F0502020204030204" pitchFamily="34" charset="0"/>
                <a:ea typeface="Calibri" panose="020F0502020204030204" pitchFamily="34" charset="0"/>
                <a:cs typeface="Calibri" panose="020F0502020204030204" pitchFamily="34" charset="0"/>
              </a:rPr>
              <a:t>كبوابة وصول: سير معالجة الطلبات</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6" name="مربع نص 5"/>
          <p:cNvSpPr txBox="1"/>
          <p:nvPr/>
        </p:nvSpPr>
        <p:spPr>
          <a:xfrm>
            <a:off x="6132787" y="2129386"/>
            <a:ext cx="4635062" cy="1891287"/>
          </a:xfrm>
          <a:prstGeom prst="rect">
            <a:avLst/>
          </a:prstGeom>
          <a:noFill/>
        </p:spPr>
        <p:txBody>
          <a:bodyPr wrap="square" rtlCol="0">
            <a:spAutoFit/>
          </a:bodyPr>
          <a:lstStyle/>
          <a:p>
            <a:pPr marL="285750" indent="-285750" algn="r" rtl="1">
              <a:lnSpc>
                <a:spcPct val="150000"/>
              </a:lnSpc>
              <a:buFont typeface="Arial" panose="020B0604020202020204" pitchFamily="34" charset="0"/>
              <a:buChar char="•"/>
            </a:pPr>
            <a:r>
              <a:rPr lang="ar-AE" sz="2000" dirty="0">
                <a:latin typeface="Calibri" panose="020F0502020204030204" pitchFamily="34" charset="0"/>
                <a:ea typeface="Calibri" panose="020F0502020204030204" pitchFamily="34" charset="0"/>
                <a:cs typeface="Calibri" panose="020F0502020204030204" pitchFamily="34" charset="0"/>
              </a:rPr>
              <a:t>التحقق من </a:t>
            </a:r>
            <a:r>
              <a:rPr lang="ar-AE" sz="2000" dirty="0" smtClean="0">
                <a:latin typeface="Calibri" panose="020F0502020204030204" pitchFamily="34" charset="0"/>
                <a:ea typeface="Calibri" panose="020F0502020204030204" pitchFamily="34" charset="0"/>
                <a:cs typeface="Calibri" panose="020F0502020204030204" pitchFamily="34" charset="0"/>
              </a:rPr>
              <a:t>الرموز</a:t>
            </a:r>
            <a:endParaRPr lang="en-US" sz="2000" dirty="0" smtClean="0">
              <a:latin typeface="Calibri" panose="020F0502020204030204" pitchFamily="34" charset="0"/>
              <a:ea typeface="Calibri" panose="020F0502020204030204" pitchFamily="34" charset="0"/>
              <a:cs typeface="Calibri" panose="020F0502020204030204" pitchFamily="34" charset="0"/>
            </a:endParaRPr>
          </a:p>
          <a:p>
            <a:pPr marL="285750" indent="-285750" algn="r" rtl="1">
              <a:lnSpc>
                <a:spcPct val="150000"/>
              </a:lnSpc>
              <a:buFont typeface="Arial" panose="020B0604020202020204" pitchFamily="34" charset="0"/>
              <a:buChar char="•"/>
            </a:pPr>
            <a:r>
              <a:rPr lang="ar-AE" sz="2000" dirty="0" smtClean="0">
                <a:latin typeface="Calibri" panose="020F0502020204030204" pitchFamily="34" charset="0"/>
                <a:ea typeface="Calibri" panose="020F0502020204030204" pitchFamily="34" charset="0"/>
                <a:cs typeface="Calibri" panose="020F0502020204030204" pitchFamily="34" charset="0"/>
              </a:rPr>
              <a:t>التحكم </a:t>
            </a:r>
            <a:r>
              <a:rPr lang="ar-AE" sz="2000" dirty="0">
                <a:latin typeface="Calibri" panose="020F0502020204030204" pitchFamily="34" charset="0"/>
                <a:ea typeface="Calibri" panose="020F0502020204030204" pitchFamily="34" charset="0"/>
                <a:cs typeface="Calibri" panose="020F0502020204030204" pitchFamily="34" charset="0"/>
              </a:rPr>
              <a:t>في </a:t>
            </a:r>
            <a:r>
              <a:rPr lang="ar-AE" sz="2000" dirty="0" smtClean="0">
                <a:latin typeface="Calibri" panose="020F0502020204030204" pitchFamily="34" charset="0"/>
                <a:ea typeface="Calibri" panose="020F0502020204030204" pitchFamily="34" charset="0"/>
                <a:cs typeface="Calibri" panose="020F0502020204030204" pitchFamily="34" charset="0"/>
              </a:rPr>
              <a:t>الجلسة</a:t>
            </a:r>
          </a:p>
          <a:p>
            <a:pPr marL="285750" indent="-285750" algn="r" rtl="1">
              <a:lnSpc>
                <a:spcPct val="150000"/>
              </a:lnSpc>
              <a:buFont typeface="Arial" panose="020B0604020202020204" pitchFamily="34" charset="0"/>
              <a:buChar char="•"/>
            </a:pPr>
            <a:r>
              <a:rPr lang="ar-AE" sz="2000" dirty="0" smtClean="0">
                <a:latin typeface="Calibri" panose="020F0502020204030204" pitchFamily="34" charset="0"/>
                <a:ea typeface="Calibri" panose="020F0502020204030204" pitchFamily="34" charset="0"/>
                <a:cs typeface="Calibri" panose="020F0502020204030204" pitchFamily="34" charset="0"/>
              </a:rPr>
              <a:t>توليد </a:t>
            </a:r>
            <a:r>
              <a:rPr lang="ar-AE" sz="2000" dirty="0">
                <a:latin typeface="Calibri" panose="020F0502020204030204" pitchFamily="34" charset="0"/>
                <a:ea typeface="Calibri" panose="020F0502020204030204" pitchFamily="34" charset="0"/>
                <a:cs typeface="Calibri" panose="020F0502020204030204" pitchFamily="34" charset="0"/>
              </a:rPr>
              <a:t>ملفات </a:t>
            </a:r>
            <a:r>
              <a:rPr lang="en-US" sz="2000" dirty="0">
                <a:latin typeface="Calibri" panose="020F0502020204030204" pitchFamily="34" charset="0"/>
                <a:ea typeface="Calibri" panose="020F0502020204030204" pitchFamily="34" charset="0"/>
                <a:cs typeface="Calibri" panose="020F0502020204030204" pitchFamily="34" charset="0"/>
              </a:rPr>
              <a:t>VPN </a:t>
            </a:r>
            <a:r>
              <a:rPr lang="ar-AE" sz="2000" dirty="0" smtClean="0">
                <a:latin typeface="Calibri" panose="020F0502020204030204" pitchFamily="34" charset="0"/>
                <a:ea typeface="Calibri" panose="020F0502020204030204" pitchFamily="34" charset="0"/>
                <a:cs typeface="Calibri" panose="020F0502020204030204" pitchFamily="34" charset="0"/>
              </a:rPr>
              <a:t>ديناميكيا</a:t>
            </a:r>
          </a:p>
          <a:p>
            <a:pPr marL="285750" indent="-285750" algn="r" rtl="1">
              <a:lnSpc>
                <a:spcPct val="150000"/>
              </a:lnSpc>
              <a:buFont typeface="Arial" panose="020B0604020202020204" pitchFamily="34" charset="0"/>
              <a:buChar char="•"/>
            </a:pPr>
            <a:r>
              <a:rPr lang="ar-AE" sz="2000" dirty="0" smtClean="0">
                <a:latin typeface="Calibri" panose="020F0502020204030204" pitchFamily="34" charset="0"/>
                <a:ea typeface="Calibri" panose="020F0502020204030204" pitchFamily="34" charset="0"/>
                <a:cs typeface="Calibri" panose="020F0502020204030204" pitchFamily="34" charset="0"/>
              </a:rPr>
              <a:t>إبطال </a:t>
            </a:r>
            <a:r>
              <a:rPr lang="ar-AE" sz="2000" dirty="0">
                <a:latin typeface="Calibri" panose="020F0502020204030204" pitchFamily="34" charset="0"/>
                <a:ea typeface="Calibri" panose="020F0502020204030204" pitchFamily="34" charset="0"/>
                <a:cs typeface="Calibri" panose="020F0502020204030204" pitchFamily="34" charset="0"/>
              </a:rPr>
              <a:t>الاتصال تلقائيًا عند انتهاء </a:t>
            </a:r>
            <a:r>
              <a:rPr lang="ar-AE" sz="2000" dirty="0" smtClean="0">
                <a:latin typeface="Calibri" panose="020F0502020204030204" pitchFamily="34" charset="0"/>
                <a:ea typeface="Calibri" panose="020F0502020204030204" pitchFamily="34" charset="0"/>
                <a:cs typeface="Calibri" panose="020F0502020204030204" pitchFamily="34" charset="0"/>
              </a:rPr>
              <a:t>الجلسة</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pic>
        <p:nvPicPr>
          <p:cNvPr id="13" name="صورة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82779" y="1883165"/>
            <a:ext cx="2987040" cy="4480560"/>
          </a:xfrm>
          <a:prstGeom prst="rect">
            <a:avLst/>
          </a:prstGeom>
        </p:spPr>
      </p:pic>
    </p:spTree>
    <p:extLst>
      <p:ext uri="{BB962C8B-B14F-4D97-AF65-F5344CB8AC3E}">
        <p14:creationId xmlns:p14="http://schemas.microsoft.com/office/powerpoint/2010/main" val="422131791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صر نائب لرقم الشريحة 3"/>
          <p:cNvSpPr>
            <a:spLocks noGrp="1"/>
          </p:cNvSpPr>
          <p:nvPr>
            <p:ph type="sldNum" sz="quarter" idx="12"/>
          </p:nvPr>
        </p:nvSpPr>
        <p:spPr/>
        <p:txBody>
          <a:bodyPr/>
          <a:lstStyle/>
          <a:p>
            <a:fld id="{525C70E0-C15F-4ED1-8882-54048B2CF1D5}" type="slidenum">
              <a:rPr lang="en-US" smtClean="0"/>
              <a:t>15</a:t>
            </a:fld>
            <a:endParaRPr lang="en-US"/>
          </a:p>
        </p:txBody>
      </p:sp>
      <p:sp>
        <p:nvSpPr>
          <p:cNvPr id="5" name="مربع نص 4"/>
          <p:cNvSpPr txBox="1"/>
          <p:nvPr/>
        </p:nvSpPr>
        <p:spPr>
          <a:xfrm>
            <a:off x="2974451" y="641628"/>
            <a:ext cx="6817360" cy="769441"/>
          </a:xfrm>
          <a:prstGeom prst="rect">
            <a:avLst/>
          </a:prstGeom>
          <a:noFill/>
        </p:spPr>
        <p:txBody>
          <a:bodyPr wrap="square" rtlCol="0">
            <a:spAutoFit/>
          </a:bodyPr>
          <a:lstStyle/>
          <a:p>
            <a:pPr algn="ctr" rtl="1"/>
            <a:r>
              <a:rPr lang="ar-AE" sz="4400" b="1" dirty="0" smtClean="0">
                <a:latin typeface="Traditional Arabic" panose="02020603050405020304" pitchFamily="18" charset="-78"/>
                <a:cs typeface="Traditional Arabic" panose="02020603050405020304" pitchFamily="18" charset="-78"/>
              </a:rPr>
              <a:t>التنفيذ العملي</a:t>
            </a:r>
            <a:endParaRPr lang="en-US" sz="4400" b="1" dirty="0">
              <a:latin typeface="Traditional Arabic" panose="02020603050405020304" pitchFamily="18" charset="-78"/>
              <a:cs typeface="Traditional Arabic" panose="02020603050405020304" pitchFamily="18" charset="-78"/>
            </a:endParaRPr>
          </a:p>
        </p:txBody>
      </p:sp>
      <p:pic>
        <p:nvPicPr>
          <p:cNvPr id="12" name="صورة 11" descr="HIAst"/>
          <p:cNvPicPr/>
          <p:nvPr/>
        </p:nvPicPr>
        <p:blipFill>
          <a:blip r:embed="rId2">
            <a:extLst>
              <a:ext uri="{28A0092B-C50C-407E-A947-70E740481C1C}">
                <a14:useLocalDpi xmlns:a14="http://schemas.microsoft.com/office/drawing/2010/main" val="0"/>
              </a:ext>
            </a:extLst>
          </a:blip>
          <a:srcRect/>
          <a:stretch>
            <a:fillRect/>
          </a:stretch>
        </p:blipFill>
        <p:spPr bwMode="auto">
          <a:xfrm>
            <a:off x="210541" y="0"/>
            <a:ext cx="1247036" cy="1283257"/>
          </a:xfrm>
          <a:prstGeom prst="rect">
            <a:avLst/>
          </a:prstGeom>
          <a:gradFill>
            <a:gsLst>
              <a:gs pos="76000">
                <a:schemeClr val="accent2"/>
              </a:gs>
              <a:gs pos="100000">
                <a:schemeClr val="bg2">
                  <a:shade val="98000"/>
                  <a:satMod val="120000"/>
                  <a:lumMod val="98000"/>
                </a:schemeClr>
              </a:gs>
            </a:gsLst>
            <a:lin ang="5400000" scaled="0"/>
          </a:gradFill>
        </p:spPr>
      </p:pic>
      <p:sp>
        <p:nvSpPr>
          <p:cNvPr id="2" name="مربع نص 1"/>
          <p:cNvSpPr txBox="1"/>
          <p:nvPr/>
        </p:nvSpPr>
        <p:spPr>
          <a:xfrm>
            <a:off x="2527823" y="1411069"/>
            <a:ext cx="7710615" cy="523220"/>
          </a:xfrm>
          <a:prstGeom prst="rect">
            <a:avLst/>
          </a:prstGeom>
          <a:noFill/>
        </p:spPr>
        <p:txBody>
          <a:bodyPr wrap="square" rtlCol="0">
            <a:spAutoFit/>
          </a:bodyPr>
          <a:lstStyle/>
          <a:p>
            <a:pPr algn="ctr" rtl="1"/>
            <a:r>
              <a:rPr lang="ar-AE" sz="2800" dirty="0" smtClean="0">
                <a:latin typeface="Calibri" panose="020F0502020204030204" pitchFamily="34" charset="0"/>
                <a:ea typeface="Calibri" panose="020F0502020204030204" pitchFamily="34" charset="0"/>
                <a:cs typeface="Calibri" panose="020F0502020204030204" pitchFamily="34" charset="0"/>
              </a:rPr>
              <a:t>إعداد  </a:t>
            </a:r>
            <a:r>
              <a:rPr lang="en-US" sz="2800" dirty="0" smtClean="0">
                <a:latin typeface="Calibri" panose="020F0502020204030204" pitchFamily="34" charset="0"/>
                <a:ea typeface="Calibri" panose="020F0502020204030204" pitchFamily="34" charset="0"/>
                <a:cs typeface="Calibri" panose="020F0502020204030204" pitchFamily="34" charset="0"/>
              </a:rPr>
              <a:t> </a:t>
            </a:r>
            <a:r>
              <a:rPr lang="en-US" sz="2800" dirty="0" err="1" smtClean="0">
                <a:latin typeface="Calibri" panose="020F0502020204030204" pitchFamily="34" charset="0"/>
                <a:ea typeface="Calibri" panose="020F0502020204030204" pitchFamily="34" charset="0"/>
                <a:cs typeface="Calibri" panose="020F0502020204030204" pitchFamily="34" charset="0"/>
              </a:rPr>
              <a:t>WireGuard</a:t>
            </a:r>
            <a:r>
              <a:rPr lang="en-US" sz="2800" dirty="0" smtClean="0">
                <a:latin typeface="Calibri" panose="020F0502020204030204" pitchFamily="34" charset="0"/>
                <a:ea typeface="Calibri" panose="020F0502020204030204" pitchFamily="34" charset="0"/>
                <a:cs typeface="Calibri" panose="020F0502020204030204" pitchFamily="34" charset="0"/>
              </a:rPr>
              <a:t> (Secure Tunnel Provider)</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9" name="مربع نص 8"/>
          <p:cNvSpPr txBox="1"/>
          <p:nvPr/>
        </p:nvSpPr>
        <p:spPr>
          <a:xfrm>
            <a:off x="3845389" y="2519064"/>
            <a:ext cx="6831957" cy="369332"/>
          </a:xfrm>
          <a:prstGeom prst="rect">
            <a:avLst/>
          </a:prstGeom>
          <a:noFill/>
        </p:spPr>
        <p:txBody>
          <a:bodyPr wrap="square" rtlCol="0">
            <a:spAutoFit/>
          </a:bodyPr>
          <a:lstStyle/>
          <a:p>
            <a:pPr marL="285750" indent="-285750" algn="r" rtl="1">
              <a:buFont typeface="Arial" panose="020B0604020202020204" pitchFamily="34" charset="0"/>
              <a:buChar char="•"/>
            </a:pPr>
            <a:r>
              <a:rPr lang="ar-AE" dirty="0" smtClean="0">
                <a:latin typeface="Calibri" panose="020F0502020204030204" pitchFamily="34" charset="0"/>
                <a:ea typeface="Calibri" panose="020F0502020204030204" pitchFamily="34" charset="0"/>
                <a:cs typeface="Calibri" panose="020F0502020204030204" pitchFamily="34" charset="0"/>
              </a:rPr>
              <a:t>إنشاء ملف إعداد المخدم في المسار التالي </a:t>
            </a:r>
            <a:r>
              <a:rPr lang="en-US" dirty="0" smtClean="0">
                <a:latin typeface="Calibri" panose="020F0502020204030204" pitchFamily="34" charset="0"/>
                <a:ea typeface="Calibri" panose="020F0502020204030204" pitchFamily="34" charset="0"/>
                <a:cs typeface="Calibri" panose="020F0502020204030204" pitchFamily="34" charset="0"/>
              </a:rPr>
              <a:t>/</a:t>
            </a:r>
            <a:r>
              <a:rPr lang="en-US" dirty="0" err="1" smtClean="0">
                <a:latin typeface="Calibri" panose="020F0502020204030204" pitchFamily="34" charset="0"/>
                <a:ea typeface="Calibri" panose="020F0502020204030204" pitchFamily="34" charset="0"/>
                <a:cs typeface="Calibri" panose="020F0502020204030204" pitchFamily="34" charset="0"/>
              </a:rPr>
              <a:t>etc</a:t>
            </a:r>
            <a:r>
              <a:rPr lang="en-US" dirty="0" smtClean="0">
                <a:latin typeface="Calibri" panose="020F0502020204030204" pitchFamily="34" charset="0"/>
                <a:ea typeface="Calibri" panose="020F0502020204030204" pitchFamily="34" charset="0"/>
                <a:cs typeface="Calibri" panose="020F0502020204030204" pitchFamily="34" charset="0"/>
              </a:rPr>
              <a:t>/</a:t>
            </a:r>
            <a:r>
              <a:rPr lang="en-US" dirty="0" err="1" smtClean="0">
                <a:latin typeface="Calibri" panose="020F0502020204030204" pitchFamily="34" charset="0"/>
                <a:ea typeface="Calibri" panose="020F0502020204030204" pitchFamily="34" charset="0"/>
                <a:cs typeface="Calibri" panose="020F0502020204030204" pitchFamily="34" charset="0"/>
              </a:rPr>
              <a:t>wireguard</a:t>
            </a:r>
            <a:r>
              <a:rPr lang="en-US" dirty="0" smtClean="0">
                <a:latin typeface="Calibri" panose="020F0502020204030204" pitchFamily="34" charset="0"/>
                <a:ea typeface="Calibri" panose="020F0502020204030204" pitchFamily="34" charset="0"/>
                <a:cs typeface="Calibri" panose="020F0502020204030204" pitchFamily="34" charset="0"/>
              </a:rPr>
              <a:t>/wg0.conf</a:t>
            </a: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10" name="صورة 9"/>
          <p:cNvPicPr>
            <a:picLocks noChangeAspect="1"/>
          </p:cNvPicPr>
          <p:nvPr/>
        </p:nvPicPr>
        <p:blipFill rotWithShape="1">
          <a:blip r:embed="rId3"/>
          <a:srcRect l="15644" t="17211" b="40741"/>
          <a:stretch/>
        </p:blipFill>
        <p:spPr>
          <a:xfrm>
            <a:off x="1907627" y="3473171"/>
            <a:ext cx="10168760" cy="2494332"/>
          </a:xfrm>
          <a:prstGeom prst="rect">
            <a:avLst/>
          </a:prstGeom>
        </p:spPr>
      </p:pic>
    </p:spTree>
    <p:extLst>
      <p:ext uri="{BB962C8B-B14F-4D97-AF65-F5344CB8AC3E}">
        <p14:creationId xmlns:p14="http://schemas.microsoft.com/office/powerpoint/2010/main" val="25045871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صورة 6" descr="HIAst"/>
          <p:cNvPicPr/>
          <p:nvPr/>
        </p:nvPicPr>
        <p:blipFill>
          <a:blip r:embed="rId2">
            <a:extLst>
              <a:ext uri="{28A0092B-C50C-407E-A947-70E740481C1C}">
                <a14:useLocalDpi xmlns:a14="http://schemas.microsoft.com/office/drawing/2010/main" val="0"/>
              </a:ext>
            </a:extLst>
          </a:blip>
          <a:srcRect/>
          <a:stretch>
            <a:fillRect/>
          </a:stretch>
        </p:blipFill>
        <p:spPr bwMode="auto">
          <a:xfrm>
            <a:off x="210541" y="0"/>
            <a:ext cx="1247036" cy="1283257"/>
          </a:xfrm>
          <a:prstGeom prst="rect">
            <a:avLst/>
          </a:prstGeom>
          <a:gradFill>
            <a:gsLst>
              <a:gs pos="76000">
                <a:schemeClr val="accent2"/>
              </a:gs>
              <a:gs pos="100000">
                <a:schemeClr val="bg2">
                  <a:shade val="98000"/>
                  <a:satMod val="120000"/>
                  <a:lumMod val="98000"/>
                </a:schemeClr>
              </a:gs>
            </a:gsLst>
            <a:lin ang="5400000" scaled="0"/>
          </a:gradFill>
        </p:spPr>
      </p:pic>
      <p:sp>
        <p:nvSpPr>
          <p:cNvPr id="10" name="مربع نص 9"/>
          <p:cNvSpPr txBox="1"/>
          <p:nvPr/>
        </p:nvSpPr>
        <p:spPr>
          <a:xfrm>
            <a:off x="3482078" y="1080439"/>
            <a:ext cx="6278880" cy="523220"/>
          </a:xfrm>
          <a:prstGeom prst="rect">
            <a:avLst/>
          </a:prstGeom>
          <a:noFill/>
        </p:spPr>
        <p:txBody>
          <a:bodyPr wrap="square" rtlCol="0">
            <a:spAutoFit/>
          </a:bodyPr>
          <a:lstStyle/>
          <a:p>
            <a:pPr rtl="1" eaLnBrk="0" fontAlgn="base" hangingPunct="0"/>
            <a:r>
              <a:rPr lang="ar-AE" sz="2800" dirty="0">
                <a:latin typeface="Calibri" panose="020F0502020204030204" pitchFamily="34" charset="0"/>
                <a:ea typeface="Calibri" panose="020F0502020204030204" pitchFamily="34" charset="0"/>
                <a:cs typeface="Calibri" panose="020F0502020204030204" pitchFamily="34" charset="0"/>
              </a:rPr>
              <a:t>إعداد الجدار الناري </a:t>
            </a:r>
            <a:r>
              <a:rPr lang="en-US" sz="2800" dirty="0">
                <a:latin typeface="Calibri" panose="020F0502020204030204" pitchFamily="34" charset="0"/>
                <a:ea typeface="Calibri" panose="020F0502020204030204" pitchFamily="34" charset="0"/>
                <a:cs typeface="Calibri" panose="020F0502020204030204" pitchFamily="34" charset="0"/>
              </a:rPr>
              <a:t>(Firewall Rules)</a:t>
            </a:r>
            <a:endParaRPr lang="en-US" sz="28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14" name="عنصر نائب لرقم الشريحة 13"/>
          <p:cNvSpPr>
            <a:spLocks noGrp="1"/>
          </p:cNvSpPr>
          <p:nvPr>
            <p:ph type="sldNum" sz="quarter" idx="12"/>
          </p:nvPr>
        </p:nvSpPr>
        <p:spPr/>
        <p:txBody>
          <a:bodyPr/>
          <a:lstStyle/>
          <a:p>
            <a:fld id="{525C70E0-C15F-4ED1-8882-54048B2CF1D5}" type="slidenum">
              <a:rPr lang="en-US" smtClean="0"/>
              <a:t>16</a:t>
            </a:fld>
            <a:endParaRPr lang="en-US"/>
          </a:p>
        </p:txBody>
      </p:sp>
      <p:sp>
        <p:nvSpPr>
          <p:cNvPr id="6" name="مربع نص 5"/>
          <p:cNvSpPr txBox="1"/>
          <p:nvPr/>
        </p:nvSpPr>
        <p:spPr>
          <a:xfrm>
            <a:off x="4271058" y="1728388"/>
            <a:ext cx="6831957" cy="369332"/>
          </a:xfrm>
          <a:prstGeom prst="rect">
            <a:avLst/>
          </a:prstGeom>
          <a:noFill/>
        </p:spPr>
        <p:txBody>
          <a:bodyPr wrap="square" rtlCol="0">
            <a:spAutoFit/>
          </a:bodyPr>
          <a:lstStyle/>
          <a:p>
            <a:pPr marL="285750" indent="-285750" algn="r" rtl="1">
              <a:buFont typeface="Arial" panose="020B0604020202020204" pitchFamily="34" charset="0"/>
              <a:buChar char="•"/>
            </a:pPr>
            <a:r>
              <a:rPr lang="ar-AE" dirty="0" smtClean="0">
                <a:latin typeface="Calibri" panose="020F0502020204030204" pitchFamily="34" charset="0"/>
                <a:ea typeface="Calibri" panose="020F0502020204030204" pitchFamily="34" charset="0"/>
                <a:cs typeface="Calibri" panose="020F0502020204030204" pitchFamily="34" charset="0"/>
              </a:rPr>
              <a:t>قواعد الجدار الناري المطبقة على الموارد</a:t>
            </a: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2" name="صورة 1"/>
          <p:cNvPicPr>
            <a:picLocks noChangeAspect="1"/>
          </p:cNvPicPr>
          <p:nvPr/>
        </p:nvPicPr>
        <p:blipFill>
          <a:blip r:embed="rId3"/>
          <a:stretch>
            <a:fillRect/>
          </a:stretch>
        </p:blipFill>
        <p:spPr>
          <a:xfrm>
            <a:off x="2420389" y="2511472"/>
            <a:ext cx="8402258" cy="2593928"/>
          </a:xfrm>
          <a:prstGeom prst="rect">
            <a:avLst/>
          </a:prstGeom>
        </p:spPr>
      </p:pic>
      <p:sp>
        <p:nvSpPr>
          <p:cNvPr id="8" name="مربع نص 7"/>
          <p:cNvSpPr txBox="1"/>
          <p:nvPr/>
        </p:nvSpPr>
        <p:spPr>
          <a:xfrm>
            <a:off x="2943598" y="256907"/>
            <a:ext cx="6817360" cy="769441"/>
          </a:xfrm>
          <a:prstGeom prst="rect">
            <a:avLst/>
          </a:prstGeom>
          <a:noFill/>
        </p:spPr>
        <p:txBody>
          <a:bodyPr wrap="square" rtlCol="0">
            <a:spAutoFit/>
          </a:bodyPr>
          <a:lstStyle/>
          <a:p>
            <a:pPr algn="ctr" rtl="1"/>
            <a:r>
              <a:rPr lang="ar-AE" sz="4400" b="1" dirty="0" smtClean="0">
                <a:latin typeface="Traditional Arabic" panose="02020603050405020304" pitchFamily="18" charset="-78"/>
                <a:cs typeface="Traditional Arabic" panose="02020603050405020304" pitchFamily="18" charset="-78"/>
              </a:rPr>
              <a:t>التنفيذ العملي</a:t>
            </a:r>
            <a:endParaRPr lang="en-US" sz="4400" b="1"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31793295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صورة 6" descr="HIAst"/>
          <p:cNvPicPr/>
          <p:nvPr/>
        </p:nvPicPr>
        <p:blipFill>
          <a:blip r:embed="rId2">
            <a:extLst>
              <a:ext uri="{28A0092B-C50C-407E-A947-70E740481C1C}">
                <a14:useLocalDpi xmlns:a14="http://schemas.microsoft.com/office/drawing/2010/main" val="0"/>
              </a:ext>
            </a:extLst>
          </a:blip>
          <a:srcRect/>
          <a:stretch>
            <a:fillRect/>
          </a:stretch>
        </p:blipFill>
        <p:spPr bwMode="auto">
          <a:xfrm>
            <a:off x="210541" y="0"/>
            <a:ext cx="1247036" cy="1283257"/>
          </a:xfrm>
          <a:prstGeom prst="rect">
            <a:avLst/>
          </a:prstGeom>
          <a:gradFill>
            <a:gsLst>
              <a:gs pos="76000">
                <a:schemeClr val="accent2"/>
              </a:gs>
              <a:gs pos="100000">
                <a:schemeClr val="bg2">
                  <a:shade val="98000"/>
                  <a:satMod val="120000"/>
                  <a:lumMod val="98000"/>
                </a:schemeClr>
              </a:gs>
            </a:gsLst>
            <a:lin ang="5400000" scaled="0"/>
          </a:gradFill>
        </p:spPr>
      </p:pic>
      <p:sp>
        <p:nvSpPr>
          <p:cNvPr id="10" name="مربع نص 9"/>
          <p:cNvSpPr txBox="1"/>
          <p:nvPr/>
        </p:nvSpPr>
        <p:spPr>
          <a:xfrm>
            <a:off x="2631791" y="1113407"/>
            <a:ext cx="6278880" cy="523220"/>
          </a:xfrm>
          <a:prstGeom prst="rect">
            <a:avLst/>
          </a:prstGeom>
          <a:noFill/>
        </p:spPr>
        <p:txBody>
          <a:bodyPr wrap="square" rtlCol="0">
            <a:spAutoFit/>
          </a:bodyPr>
          <a:lstStyle/>
          <a:p>
            <a:pPr lvl="0" algn="r" rtl="1" eaLnBrk="0" fontAlgn="base" hangingPunct="0">
              <a:spcBef>
                <a:spcPct val="0"/>
              </a:spcBef>
              <a:spcAft>
                <a:spcPct val="0"/>
              </a:spcAft>
            </a:pPr>
            <a:r>
              <a:rPr lang="ar-SA" sz="2800" dirty="0">
                <a:latin typeface="Calibri" panose="020F0502020204030204" pitchFamily="34" charset="0"/>
                <a:ea typeface="Calibri" panose="020F0502020204030204" pitchFamily="34" charset="0"/>
                <a:cs typeface="Calibri" panose="020F0502020204030204" pitchFamily="34" charset="0"/>
              </a:rPr>
              <a:t>الاختبارات العملية</a:t>
            </a:r>
            <a:r>
              <a:rPr lang="en-US" sz="2800" dirty="0">
                <a:latin typeface="Calibri" panose="020F0502020204030204" pitchFamily="34" charset="0"/>
                <a:ea typeface="Calibri" panose="020F0502020204030204" pitchFamily="34" charset="0"/>
                <a:cs typeface="Calibri" panose="020F0502020204030204" pitchFamily="34" charset="0"/>
              </a:rPr>
              <a:t>(Testing Scenarios) </a:t>
            </a:r>
          </a:p>
        </p:txBody>
      </p:sp>
      <p:sp>
        <p:nvSpPr>
          <p:cNvPr id="14" name="عنصر نائب لرقم الشريحة 13"/>
          <p:cNvSpPr>
            <a:spLocks noGrp="1"/>
          </p:cNvSpPr>
          <p:nvPr>
            <p:ph type="sldNum" sz="quarter" idx="12"/>
          </p:nvPr>
        </p:nvSpPr>
        <p:spPr/>
        <p:txBody>
          <a:bodyPr/>
          <a:lstStyle/>
          <a:p>
            <a:fld id="{525C70E0-C15F-4ED1-8882-54048B2CF1D5}" type="slidenum">
              <a:rPr lang="en-US" smtClean="0"/>
              <a:t>17</a:t>
            </a:fld>
            <a:endParaRPr lang="en-US"/>
          </a:p>
        </p:txBody>
      </p:sp>
      <p:sp>
        <p:nvSpPr>
          <p:cNvPr id="6" name="مربع نص 5"/>
          <p:cNvSpPr txBox="1"/>
          <p:nvPr/>
        </p:nvSpPr>
        <p:spPr>
          <a:xfrm>
            <a:off x="4271058" y="1728388"/>
            <a:ext cx="6831957" cy="369332"/>
          </a:xfrm>
          <a:prstGeom prst="rect">
            <a:avLst/>
          </a:prstGeom>
          <a:noFill/>
        </p:spPr>
        <p:txBody>
          <a:bodyPr wrap="square" rtlCol="0">
            <a:spAutoFit/>
          </a:bodyPr>
          <a:lstStyle/>
          <a:p>
            <a:pPr marL="285750" indent="-285750" algn="r" rtl="1">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2" name="جدول 1"/>
          <p:cNvGraphicFramePr>
            <a:graphicFrameLocks noGrp="1"/>
          </p:cNvGraphicFramePr>
          <p:nvPr>
            <p:extLst>
              <p:ext uri="{D42A27DB-BD31-4B8C-83A1-F6EECF244321}">
                <p14:modId xmlns:p14="http://schemas.microsoft.com/office/powerpoint/2010/main" val="1045942737"/>
              </p:ext>
            </p:extLst>
          </p:nvPr>
        </p:nvGraphicFramePr>
        <p:xfrm>
          <a:off x="4271059" y="1887773"/>
          <a:ext cx="3960854" cy="4601612"/>
        </p:xfrm>
        <a:graphic>
          <a:graphicData uri="http://schemas.openxmlformats.org/drawingml/2006/table">
            <a:tbl>
              <a:tblPr firstRow="1" firstCol="1" bandRow="1"/>
              <a:tblGrid>
                <a:gridCol w="2564001"/>
                <a:gridCol w="1396853"/>
              </a:tblGrid>
              <a:tr h="369080">
                <a:tc>
                  <a:txBody>
                    <a:bodyPr/>
                    <a:lstStyle/>
                    <a:p>
                      <a:pPr marL="0" marR="0" algn="ctr" rtl="1">
                        <a:lnSpc>
                          <a:spcPct val="107000"/>
                        </a:lnSpc>
                        <a:spcBef>
                          <a:spcPts val="0"/>
                        </a:spcBef>
                        <a:spcAft>
                          <a:spcPts val="800"/>
                        </a:spcAft>
                      </a:pPr>
                      <a:r>
                        <a:rPr lang="ar-SA" sz="1200" b="1" dirty="0">
                          <a:effectLst/>
                          <a:latin typeface="Calibri" panose="020F0502020204030204" pitchFamily="34" charset="0"/>
                          <a:ea typeface="Times New Roman" panose="02020603050405020304" pitchFamily="18" charset="0"/>
                          <a:cs typeface="Calibri" panose="020F0502020204030204" pitchFamily="34" charset="0"/>
                        </a:rPr>
                        <a:t>وصف الاختبار</a:t>
                      </a:r>
                      <a:endParaRPr lang="en-US" sz="1200" dirty="0">
                        <a:effectLst/>
                        <a:latin typeface="Calibri" panose="020F0502020204030204" pitchFamily="34" charset="0"/>
                        <a:ea typeface="Times New Roman" panose="02020603050405020304" pitchFamily="18" charset="0"/>
                        <a:cs typeface="Calibri" panose="020F0502020204030204" pitchFamily="34" charset="0"/>
                      </a:endParaRPr>
                    </a:p>
                  </a:txBody>
                  <a:tcPr marL="9525" marR="9525" marT="9525" marB="9525"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a:txBody>
                    <a:bodyPr/>
                    <a:lstStyle/>
                    <a:p>
                      <a:pPr marL="0" marR="0" algn="ctr" rtl="1">
                        <a:lnSpc>
                          <a:spcPct val="107000"/>
                        </a:lnSpc>
                        <a:spcBef>
                          <a:spcPts val="0"/>
                        </a:spcBef>
                        <a:spcAft>
                          <a:spcPts val="800"/>
                        </a:spcAft>
                      </a:pPr>
                      <a:r>
                        <a:rPr lang="ar-SA" sz="1200" b="1" dirty="0">
                          <a:effectLst/>
                          <a:latin typeface="Calibri" panose="020F0502020204030204" pitchFamily="34" charset="0"/>
                          <a:ea typeface="Times New Roman" panose="02020603050405020304" pitchFamily="18" charset="0"/>
                          <a:cs typeface="Calibri" panose="020F0502020204030204" pitchFamily="34" charset="0"/>
                        </a:rPr>
                        <a:t>رقم الحالة</a:t>
                      </a:r>
                      <a:endParaRPr lang="en-US" sz="1200" dirty="0">
                        <a:effectLst/>
                        <a:latin typeface="Calibri" panose="020F0502020204030204" pitchFamily="34" charset="0"/>
                        <a:ea typeface="Times New Roman" panose="02020603050405020304" pitchFamily="18" charset="0"/>
                        <a:cs typeface="Calibri" panose="020F0502020204030204" pitchFamily="34" charset="0"/>
                      </a:endParaRPr>
                    </a:p>
                  </a:txBody>
                  <a:tcPr marL="9525" marR="9525" marT="9525" marB="9525"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r>
              <a:tr h="705422">
                <a:tc>
                  <a:txBody>
                    <a:bodyPr/>
                    <a:lstStyle/>
                    <a:p>
                      <a:pPr marL="0" marR="0" algn="ctr" rtl="1">
                        <a:lnSpc>
                          <a:spcPct val="107000"/>
                        </a:lnSpc>
                        <a:spcBef>
                          <a:spcPts val="0"/>
                        </a:spcBef>
                        <a:spcAft>
                          <a:spcPts val="800"/>
                        </a:spcAft>
                      </a:pPr>
                      <a:r>
                        <a:rPr lang="ar-SA" sz="1200" dirty="0">
                          <a:effectLst/>
                          <a:latin typeface="Calibri" panose="020F0502020204030204" pitchFamily="34" charset="0"/>
                          <a:ea typeface="Times New Roman" panose="02020603050405020304" pitchFamily="18" charset="0"/>
                          <a:cs typeface="Calibri" panose="020F0502020204030204" pitchFamily="34" charset="0"/>
                        </a:rPr>
                        <a:t>تسجيل الدخول بشكل صحيح وتحميل إعداد</a:t>
                      </a:r>
                      <a:r>
                        <a:rPr lang="en-US" sz="1200" dirty="0">
                          <a:effectLst/>
                          <a:latin typeface="Calibri" panose="020F0502020204030204" pitchFamily="34" charset="0"/>
                          <a:ea typeface="Times New Roman" panose="02020603050405020304" pitchFamily="18" charset="0"/>
                          <a:cs typeface="Calibri" panose="020F0502020204030204" pitchFamily="34" charset="0"/>
                        </a:rPr>
                        <a:t> VPN </a:t>
                      </a:r>
                      <a:r>
                        <a:rPr lang="ar-SA" sz="1200" dirty="0">
                          <a:effectLst/>
                          <a:latin typeface="Calibri" panose="020F0502020204030204" pitchFamily="34" charset="0"/>
                          <a:ea typeface="Times New Roman" panose="02020603050405020304" pitchFamily="18" charset="0"/>
                          <a:cs typeface="Calibri" panose="020F0502020204030204" pitchFamily="34" charset="0"/>
                        </a:rPr>
                        <a:t>بنجاح</a:t>
                      </a:r>
                      <a:endParaRPr lang="en-US" sz="1200" dirty="0">
                        <a:effectLst/>
                        <a:latin typeface="Calibri" panose="020F0502020204030204" pitchFamily="34" charset="0"/>
                        <a:ea typeface="Times New Roman" panose="02020603050405020304" pitchFamily="18" charset="0"/>
                        <a:cs typeface="Calibri" panose="020F0502020204030204" pitchFamily="34" charset="0"/>
                      </a:endParaRPr>
                    </a:p>
                  </a:txBody>
                  <a:tcPr marL="9525" marR="9525" marT="9525" marB="9525" anchor="ctr">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lnSpc>
                          <a:spcPct val="107000"/>
                        </a:lnSpc>
                        <a:spcBef>
                          <a:spcPts val="0"/>
                        </a:spcBef>
                        <a:spcAft>
                          <a:spcPts val="800"/>
                        </a:spcAft>
                      </a:pPr>
                      <a:r>
                        <a:rPr lang="en-US" sz="1200">
                          <a:effectLst/>
                          <a:latin typeface="Calibri" panose="020F0502020204030204" pitchFamily="34" charset="0"/>
                          <a:ea typeface="Times New Roman" panose="02020603050405020304" pitchFamily="18" charset="0"/>
                          <a:cs typeface="Calibri" panose="020F0502020204030204" pitchFamily="34" charset="0"/>
                        </a:rPr>
                        <a:t>1</a:t>
                      </a:r>
                    </a:p>
                  </a:txBody>
                  <a:tcPr marL="9525" marR="9525" marT="9525" marB="9525" anchor="ctr">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05422">
                <a:tc>
                  <a:txBody>
                    <a:bodyPr/>
                    <a:lstStyle/>
                    <a:p>
                      <a:pPr marL="0" marR="0" algn="ctr" rtl="1">
                        <a:lnSpc>
                          <a:spcPct val="107000"/>
                        </a:lnSpc>
                        <a:spcBef>
                          <a:spcPts val="0"/>
                        </a:spcBef>
                        <a:spcAft>
                          <a:spcPts val="800"/>
                        </a:spcAft>
                      </a:pPr>
                      <a:r>
                        <a:rPr lang="ar-SA" sz="1200">
                          <a:effectLst/>
                          <a:latin typeface="Calibri" panose="020F0502020204030204" pitchFamily="34" charset="0"/>
                          <a:ea typeface="Times New Roman" panose="02020603050405020304" pitchFamily="18" charset="0"/>
                          <a:cs typeface="Calibri" panose="020F0502020204030204" pitchFamily="34" charset="0"/>
                        </a:rPr>
                        <a:t>انتهاء الجلسة تلقائيا وتعطيل القرين بعد 3 دقائق</a:t>
                      </a:r>
                      <a:endParaRPr lang="en-US" sz="1200">
                        <a:effectLst/>
                        <a:latin typeface="Calibri" panose="020F0502020204030204" pitchFamily="34" charset="0"/>
                        <a:ea typeface="Times New Roman" panose="02020603050405020304" pitchFamily="18" charset="0"/>
                        <a:cs typeface="Calibri" panose="020F0502020204030204" pitchFamily="34" charset="0"/>
                      </a:endParaRPr>
                    </a:p>
                  </a:txBody>
                  <a:tcPr marL="9525" marR="9525" marT="9525" marB="9525" anchor="ctr">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lnSpc>
                          <a:spcPct val="107000"/>
                        </a:lnSpc>
                        <a:spcBef>
                          <a:spcPts val="0"/>
                        </a:spcBef>
                        <a:spcAft>
                          <a:spcPts val="800"/>
                        </a:spcAft>
                      </a:pPr>
                      <a:r>
                        <a:rPr lang="en-US" sz="1200">
                          <a:effectLst/>
                          <a:latin typeface="Calibri" panose="020F0502020204030204" pitchFamily="34" charset="0"/>
                          <a:ea typeface="Times New Roman" panose="02020603050405020304" pitchFamily="18" charset="0"/>
                          <a:cs typeface="Calibri" panose="020F0502020204030204" pitchFamily="34" charset="0"/>
                        </a:rPr>
                        <a:t>2</a:t>
                      </a:r>
                    </a:p>
                  </a:txBody>
                  <a:tcPr marL="9525" marR="9525" marT="9525" marB="9525" anchor="ctr">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05422">
                <a:tc>
                  <a:txBody>
                    <a:bodyPr/>
                    <a:lstStyle/>
                    <a:p>
                      <a:pPr marL="0" marR="0" algn="ctr" rtl="1">
                        <a:lnSpc>
                          <a:spcPct val="107000"/>
                        </a:lnSpc>
                        <a:spcBef>
                          <a:spcPts val="0"/>
                        </a:spcBef>
                        <a:spcAft>
                          <a:spcPts val="800"/>
                        </a:spcAft>
                      </a:pPr>
                      <a:r>
                        <a:rPr lang="ar-SA" sz="1200">
                          <a:effectLst/>
                          <a:latin typeface="Calibri" panose="020F0502020204030204" pitchFamily="34" charset="0"/>
                          <a:ea typeface="Times New Roman" panose="02020603050405020304" pitchFamily="18" charset="0"/>
                          <a:cs typeface="Calibri" panose="020F0502020204030204" pitchFamily="34" charset="0"/>
                        </a:rPr>
                        <a:t>محاولة استخدام إعداد</a:t>
                      </a:r>
                      <a:r>
                        <a:rPr lang="en-US" sz="1200">
                          <a:effectLst/>
                          <a:latin typeface="Calibri" panose="020F0502020204030204" pitchFamily="34" charset="0"/>
                          <a:ea typeface="Times New Roman" panose="02020603050405020304" pitchFamily="18" charset="0"/>
                          <a:cs typeface="Calibri" panose="020F0502020204030204" pitchFamily="34" charset="0"/>
                        </a:rPr>
                        <a:t> VPN </a:t>
                      </a:r>
                      <a:r>
                        <a:rPr lang="ar-SA" sz="1200">
                          <a:effectLst/>
                          <a:latin typeface="Calibri" panose="020F0502020204030204" pitchFamily="34" charset="0"/>
                          <a:ea typeface="Times New Roman" panose="02020603050405020304" pitchFamily="18" charset="0"/>
                          <a:cs typeface="Calibri" panose="020F0502020204030204" pitchFamily="34" charset="0"/>
                        </a:rPr>
                        <a:t>منتهي الصلاحية بعد انتهاء الجلسة</a:t>
                      </a:r>
                      <a:endParaRPr lang="en-US" sz="1200">
                        <a:effectLst/>
                        <a:latin typeface="Calibri" panose="020F0502020204030204" pitchFamily="34" charset="0"/>
                        <a:ea typeface="Times New Roman" panose="02020603050405020304" pitchFamily="18" charset="0"/>
                        <a:cs typeface="Calibri" panose="020F0502020204030204" pitchFamily="34" charset="0"/>
                      </a:endParaRPr>
                    </a:p>
                  </a:txBody>
                  <a:tcPr marL="9525" marR="9525" marT="9525" marB="9525" anchor="ctr">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lnSpc>
                          <a:spcPct val="107000"/>
                        </a:lnSpc>
                        <a:spcBef>
                          <a:spcPts val="0"/>
                        </a:spcBef>
                        <a:spcAft>
                          <a:spcPts val="800"/>
                        </a:spcAft>
                      </a:pPr>
                      <a:r>
                        <a:rPr lang="en-US" sz="1200">
                          <a:effectLst/>
                          <a:latin typeface="Calibri" panose="020F0502020204030204" pitchFamily="34" charset="0"/>
                          <a:ea typeface="Times New Roman" panose="02020603050405020304" pitchFamily="18" charset="0"/>
                          <a:cs typeface="Calibri" panose="020F0502020204030204" pitchFamily="34" charset="0"/>
                        </a:rPr>
                        <a:t>3</a:t>
                      </a:r>
                    </a:p>
                  </a:txBody>
                  <a:tcPr marL="9525" marR="9525" marT="9525" marB="9525" anchor="ctr">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05422">
                <a:tc>
                  <a:txBody>
                    <a:bodyPr/>
                    <a:lstStyle/>
                    <a:p>
                      <a:pPr marL="0" marR="0" algn="ctr" rtl="1">
                        <a:lnSpc>
                          <a:spcPct val="107000"/>
                        </a:lnSpc>
                        <a:spcBef>
                          <a:spcPts val="0"/>
                        </a:spcBef>
                        <a:spcAft>
                          <a:spcPts val="800"/>
                        </a:spcAft>
                      </a:pPr>
                      <a:r>
                        <a:rPr lang="ar-SA" sz="1200">
                          <a:effectLst/>
                          <a:latin typeface="Calibri" panose="020F0502020204030204" pitchFamily="34" charset="0"/>
                          <a:ea typeface="Times New Roman" panose="02020603050405020304" pitchFamily="18" charset="0"/>
                          <a:cs typeface="Calibri" panose="020F0502020204030204" pitchFamily="34" charset="0"/>
                        </a:rPr>
                        <a:t>تسجيل الخروج يدويا وتعطيل القرين </a:t>
                      </a:r>
                      <a:endParaRPr lang="en-US" sz="1200">
                        <a:effectLst/>
                        <a:latin typeface="Calibri" panose="020F0502020204030204" pitchFamily="34" charset="0"/>
                        <a:ea typeface="Times New Roman" panose="02020603050405020304" pitchFamily="18" charset="0"/>
                        <a:cs typeface="Calibri" panose="020F0502020204030204" pitchFamily="34" charset="0"/>
                      </a:endParaRPr>
                    </a:p>
                  </a:txBody>
                  <a:tcPr marL="9525" marR="9525" marT="9525" marB="9525" anchor="ctr">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lnSpc>
                          <a:spcPct val="107000"/>
                        </a:lnSpc>
                        <a:spcBef>
                          <a:spcPts val="0"/>
                        </a:spcBef>
                        <a:spcAft>
                          <a:spcPts val="800"/>
                        </a:spcAft>
                      </a:pPr>
                      <a:r>
                        <a:rPr lang="en-US" sz="1200">
                          <a:effectLst/>
                          <a:latin typeface="Calibri" panose="020F0502020204030204" pitchFamily="34" charset="0"/>
                          <a:ea typeface="Times New Roman" panose="02020603050405020304" pitchFamily="18" charset="0"/>
                          <a:cs typeface="Calibri" panose="020F0502020204030204" pitchFamily="34" charset="0"/>
                        </a:rPr>
                        <a:t>5</a:t>
                      </a:r>
                    </a:p>
                  </a:txBody>
                  <a:tcPr marL="9525" marR="9525" marT="9525" marB="9525" anchor="ctr">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05422">
                <a:tc>
                  <a:txBody>
                    <a:bodyPr/>
                    <a:lstStyle/>
                    <a:p>
                      <a:pPr marL="0" marR="0" algn="ctr" rtl="1">
                        <a:lnSpc>
                          <a:spcPct val="107000"/>
                        </a:lnSpc>
                        <a:spcBef>
                          <a:spcPts val="0"/>
                        </a:spcBef>
                        <a:spcAft>
                          <a:spcPts val="800"/>
                        </a:spcAft>
                      </a:pPr>
                      <a:r>
                        <a:rPr lang="ar-SA" sz="1200">
                          <a:effectLst/>
                          <a:latin typeface="Calibri" panose="020F0502020204030204" pitchFamily="34" charset="0"/>
                          <a:ea typeface="Times New Roman" panose="02020603050405020304" pitchFamily="18" charset="0"/>
                          <a:cs typeface="Calibri" panose="020F0502020204030204" pitchFamily="34" charset="0"/>
                        </a:rPr>
                        <a:t>محاولة تجاوز</a:t>
                      </a:r>
                      <a:r>
                        <a:rPr lang="en-US" sz="1200">
                          <a:effectLst/>
                          <a:latin typeface="Calibri" panose="020F0502020204030204" pitchFamily="34" charset="0"/>
                          <a:ea typeface="Times New Roman" panose="02020603050405020304" pitchFamily="18" charset="0"/>
                          <a:cs typeface="Calibri" panose="020F0502020204030204" pitchFamily="34" charset="0"/>
                        </a:rPr>
                        <a:t> Flask </a:t>
                      </a:r>
                      <a:r>
                        <a:rPr lang="ar-SA" sz="1200">
                          <a:effectLst/>
                          <a:latin typeface="Calibri" panose="020F0502020204030204" pitchFamily="34" charset="0"/>
                          <a:ea typeface="Times New Roman" panose="02020603050405020304" pitchFamily="18" charset="0"/>
                          <a:cs typeface="Calibri" panose="020F0502020204030204" pitchFamily="34" charset="0"/>
                        </a:rPr>
                        <a:t>والاتصال مباشرة بـ </a:t>
                      </a:r>
                      <a:r>
                        <a:rPr lang="en-US" sz="1200">
                          <a:effectLst/>
                          <a:latin typeface="Calibri" panose="020F0502020204030204" pitchFamily="34" charset="0"/>
                          <a:ea typeface="Times New Roman" panose="02020603050405020304" pitchFamily="18" charset="0"/>
                          <a:cs typeface="Calibri" panose="020F0502020204030204" pitchFamily="34" charset="0"/>
                        </a:rPr>
                        <a:t>WireGuard</a:t>
                      </a:r>
                    </a:p>
                  </a:txBody>
                  <a:tcPr marL="9525" marR="9525" marT="9525" marB="9525" anchor="ctr">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1">
                        <a:lnSpc>
                          <a:spcPct val="107000"/>
                        </a:lnSpc>
                        <a:spcBef>
                          <a:spcPts val="0"/>
                        </a:spcBef>
                        <a:spcAft>
                          <a:spcPts val="800"/>
                        </a:spcAft>
                      </a:pPr>
                      <a:r>
                        <a:rPr lang="en-US" sz="1200">
                          <a:effectLst/>
                          <a:latin typeface="Calibri" panose="020F0502020204030204" pitchFamily="34" charset="0"/>
                          <a:ea typeface="Times New Roman" panose="02020603050405020304" pitchFamily="18" charset="0"/>
                          <a:cs typeface="Calibri" panose="020F0502020204030204" pitchFamily="34" charset="0"/>
                        </a:rPr>
                        <a:t>6</a:t>
                      </a:r>
                    </a:p>
                  </a:txBody>
                  <a:tcPr marL="9525" marR="9525" marT="9525" marB="9525" anchor="ctr">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05422">
                <a:tc>
                  <a:txBody>
                    <a:bodyPr/>
                    <a:lstStyle/>
                    <a:p>
                      <a:pPr marL="0" marR="0" algn="ctr" rtl="1">
                        <a:lnSpc>
                          <a:spcPct val="107000"/>
                        </a:lnSpc>
                        <a:spcBef>
                          <a:spcPts val="0"/>
                        </a:spcBef>
                        <a:spcAft>
                          <a:spcPts val="800"/>
                        </a:spcAft>
                      </a:pPr>
                      <a:r>
                        <a:rPr lang="ar-SA" sz="1200" dirty="0">
                          <a:effectLst/>
                          <a:latin typeface="Calibri" panose="020F0502020204030204" pitchFamily="34" charset="0"/>
                          <a:ea typeface="Times New Roman" panose="02020603050405020304" pitchFamily="18" charset="0"/>
                          <a:cs typeface="Calibri" panose="020F0502020204030204" pitchFamily="34" charset="0"/>
                        </a:rPr>
                        <a:t>هجوم القوة الغاشمة لكشف كلمة المرور</a:t>
                      </a:r>
                      <a:r>
                        <a:rPr lang="en-US" sz="1200" dirty="0">
                          <a:effectLst/>
                          <a:latin typeface="Calibri" panose="020F0502020204030204" pitchFamily="34" charset="0"/>
                          <a:ea typeface="Times New Roman" panose="02020603050405020304" pitchFamily="18" charset="0"/>
                          <a:cs typeface="Calibri" panose="020F0502020204030204" pitchFamily="34" charset="0"/>
                        </a:rPr>
                        <a:t>(Brute Force Attack) </a:t>
                      </a:r>
                    </a:p>
                  </a:txBody>
                  <a:tcPr marL="9525" marR="9525" marT="9525" marB="9525" anchor="ctr">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rtl="0">
                        <a:lnSpc>
                          <a:spcPct val="107000"/>
                        </a:lnSpc>
                        <a:spcBef>
                          <a:spcPts val="0"/>
                        </a:spcBef>
                        <a:spcAft>
                          <a:spcPts val="800"/>
                        </a:spcAft>
                      </a:pPr>
                      <a:r>
                        <a:rPr lang="en-US" sz="1200" dirty="0">
                          <a:effectLst/>
                          <a:latin typeface="Calibri" panose="020F0502020204030204" pitchFamily="34" charset="0"/>
                          <a:ea typeface="Times New Roman" panose="02020603050405020304" pitchFamily="18" charset="0"/>
                          <a:cs typeface="Calibri" panose="020F0502020204030204" pitchFamily="34" charset="0"/>
                        </a:rPr>
                        <a:t>7</a:t>
                      </a:r>
                    </a:p>
                  </a:txBody>
                  <a:tcPr marL="9525" marR="9525" marT="9525" marB="9525" anchor="ctr">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4" name="مستطيل 3"/>
          <p:cNvSpPr/>
          <p:nvPr/>
        </p:nvSpPr>
        <p:spPr>
          <a:xfrm>
            <a:off x="3750796" y="375316"/>
            <a:ext cx="5561138" cy="646331"/>
          </a:xfrm>
          <a:prstGeom prst="rect">
            <a:avLst/>
          </a:prstGeom>
        </p:spPr>
        <p:txBody>
          <a:bodyPr wrap="none">
            <a:spAutoFit/>
          </a:bodyPr>
          <a:lstStyle/>
          <a:p>
            <a:r>
              <a:rPr lang="ar-AE" sz="3600" b="1" dirty="0">
                <a:solidFill>
                  <a:srgbClr val="000000"/>
                </a:solidFill>
                <a:latin typeface="Calibri" panose="020F0502020204030204" pitchFamily="34" charset="0"/>
                <a:ea typeface="Calibri" panose="020F0502020204030204" pitchFamily="34" charset="0"/>
                <a:cs typeface="Calibri" panose="020F0502020204030204" pitchFamily="34" charset="0"/>
              </a:rPr>
              <a:t>نتائج اختبار النموذج الأمني المقترح</a:t>
            </a:r>
            <a:endParaRPr lang="en-US" sz="3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592061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صورة 6" descr="HIAst"/>
          <p:cNvPicPr/>
          <p:nvPr/>
        </p:nvPicPr>
        <p:blipFill>
          <a:blip r:embed="rId2">
            <a:extLst>
              <a:ext uri="{28A0092B-C50C-407E-A947-70E740481C1C}">
                <a14:useLocalDpi xmlns:a14="http://schemas.microsoft.com/office/drawing/2010/main" val="0"/>
              </a:ext>
            </a:extLst>
          </a:blip>
          <a:srcRect/>
          <a:stretch>
            <a:fillRect/>
          </a:stretch>
        </p:blipFill>
        <p:spPr bwMode="auto">
          <a:xfrm>
            <a:off x="210541" y="0"/>
            <a:ext cx="1247036" cy="1283257"/>
          </a:xfrm>
          <a:prstGeom prst="rect">
            <a:avLst/>
          </a:prstGeom>
          <a:gradFill>
            <a:gsLst>
              <a:gs pos="76000">
                <a:schemeClr val="accent2"/>
              </a:gs>
              <a:gs pos="100000">
                <a:schemeClr val="bg2">
                  <a:shade val="98000"/>
                  <a:satMod val="120000"/>
                  <a:lumMod val="98000"/>
                </a:schemeClr>
              </a:gs>
            </a:gsLst>
            <a:lin ang="5400000" scaled="0"/>
          </a:gradFill>
        </p:spPr>
      </p:pic>
      <p:sp>
        <p:nvSpPr>
          <p:cNvPr id="10" name="مربع نص 9"/>
          <p:cNvSpPr txBox="1"/>
          <p:nvPr/>
        </p:nvSpPr>
        <p:spPr>
          <a:xfrm>
            <a:off x="1457577" y="1232472"/>
            <a:ext cx="6278880" cy="523220"/>
          </a:xfrm>
          <a:prstGeom prst="rect">
            <a:avLst/>
          </a:prstGeom>
          <a:noFill/>
        </p:spPr>
        <p:txBody>
          <a:bodyPr wrap="square" rtlCol="0">
            <a:spAutoFit/>
          </a:bodyPr>
          <a:lstStyle/>
          <a:p>
            <a:pPr lvl="0" algn="r" rtl="1" eaLnBrk="0" fontAlgn="base" hangingPunct="0">
              <a:spcBef>
                <a:spcPct val="0"/>
              </a:spcBef>
              <a:spcAft>
                <a:spcPct val="0"/>
              </a:spcAft>
            </a:pPr>
            <a:r>
              <a:rPr lang="ar-AE" sz="2800" dirty="0" smtClean="0">
                <a:latin typeface="Calibri" panose="020F0502020204030204" pitchFamily="34" charset="0"/>
                <a:ea typeface="Calibri" panose="020F0502020204030204" pitchFamily="34" charset="0"/>
                <a:cs typeface="Calibri" panose="020F0502020204030204" pitchFamily="34" charset="0"/>
              </a:rPr>
              <a:t>نتائج الاختبارات العملية </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14" name="عنصر نائب لرقم الشريحة 13"/>
          <p:cNvSpPr>
            <a:spLocks noGrp="1"/>
          </p:cNvSpPr>
          <p:nvPr>
            <p:ph type="sldNum" sz="quarter" idx="12"/>
          </p:nvPr>
        </p:nvSpPr>
        <p:spPr/>
        <p:txBody>
          <a:bodyPr/>
          <a:lstStyle/>
          <a:p>
            <a:fld id="{525C70E0-C15F-4ED1-8882-54048B2CF1D5}" type="slidenum">
              <a:rPr lang="en-US" smtClean="0"/>
              <a:t>18</a:t>
            </a:fld>
            <a:endParaRPr lang="en-US"/>
          </a:p>
        </p:txBody>
      </p:sp>
      <p:sp>
        <p:nvSpPr>
          <p:cNvPr id="6" name="مربع نص 5"/>
          <p:cNvSpPr txBox="1"/>
          <p:nvPr/>
        </p:nvSpPr>
        <p:spPr>
          <a:xfrm>
            <a:off x="4271058" y="1728388"/>
            <a:ext cx="6831957" cy="369332"/>
          </a:xfrm>
          <a:prstGeom prst="rect">
            <a:avLst/>
          </a:prstGeom>
          <a:noFill/>
        </p:spPr>
        <p:txBody>
          <a:bodyPr wrap="square" rtlCol="0">
            <a:spAutoFit/>
          </a:bodyPr>
          <a:lstStyle/>
          <a:p>
            <a:pPr marL="285750" indent="-285750" algn="r" rtl="1">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مستطيل 3"/>
          <p:cNvSpPr/>
          <p:nvPr/>
        </p:nvSpPr>
        <p:spPr>
          <a:xfrm>
            <a:off x="3750796" y="375316"/>
            <a:ext cx="5561138" cy="646331"/>
          </a:xfrm>
          <a:prstGeom prst="rect">
            <a:avLst/>
          </a:prstGeom>
        </p:spPr>
        <p:txBody>
          <a:bodyPr wrap="none">
            <a:spAutoFit/>
          </a:bodyPr>
          <a:lstStyle/>
          <a:p>
            <a:r>
              <a:rPr lang="ar-AE" sz="3600" b="1" dirty="0">
                <a:solidFill>
                  <a:srgbClr val="000000"/>
                </a:solidFill>
                <a:latin typeface="Calibri" panose="020F0502020204030204" pitchFamily="34" charset="0"/>
                <a:ea typeface="Calibri" panose="020F0502020204030204" pitchFamily="34" charset="0"/>
                <a:cs typeface="Calibri" panose="020F0502020204030204" pitchFamily="34" charset="0"/>
              </a:rPr>
              <a:t>نتائج اختبار النموذج الأمني المقترح</a:t>
            </a:r>
            <a:endParaRPr lang="en-US" sz="3600" dirty="0">
              <a:latin typeface="Calibri" panose="020F0502020204030204" pitchFamily="34" charset="0"/>
              <a:ea typeface="Calibri" panose="020F0502020204030204" pitchFamily="34" charset="0"/>
              <a:cs typeface="Calibri" panose="020F0502020204030204" pitchFamily="34" charset="0"/>
            </a:endParaRPr>
          </a:p>
        </p:txBody>
      </p:sp>
      <p:sp>
        <p:nvSpPr>
          <p:cNvPr id="5" name="مربع نص 4"/>
          <p:cNvSpPr txBox="1"/>
          <p:nvPr/>
        </p:nvSpPr>
        <p:spPr>
          <a:xfrm>
            <a:off x="5013434" y="1913054"/>
            <a:ext cx="4948796" cy="2308324"/>
          </a:xfrm>
          <a:prstGeom prst="rect">
            <a:avLst/>
          </a:prstGeom>
          <a:noFill/>
        </p:spPr>
        <p:txBody>
          <a:bodyPr wrap="square" rtlCol="0">
            <a:spAutoFit/>
          </a:bodyPr>
          <a:lstStyle/>
          <a:p>
            <a:pPr marL="342900" indent="-342900" algn="r" rtl="1">
              <a:lnSpc>
                <a:spcPct val="150000"/>
              </a:lnSpc>
              <a:buFont typeface="Arial" panose="020B0604020202020204" pitchFamily="34" charset="0"/>
              <a:buChar char="•"/>
            </a:pPr>
            <a:r>
              <a:rPr lang="ar-AE" sz="2400" dirty="0" smtClean="0">
                <a:latin typeface="Calibri" panose="020F0502020204030204" pitchFamily="34" charset="0"/>
                <a:ea typeface="Calibri" panose="020F0502020204030204" pitchFamily="34" charset="0"/>
                <a:cs typeface="Calibri" panose="020F0502020204030204" pitchFamily="34" charset="0"/>
              </a:rPr>
              <a:t>الالتزام بمبادئ </a:t>
            </a:r>
            <a:r>
              <a:rPr lang="en-US" sz="2400" dirty="0" smtClean="0">
                <a:latin typeface="Calibri" panose="020F0502020204030204" pitchFamily="34" charset="0"/>
                <a:ea typeface="Calibri" panose="020F0502020204030204" pitchFamily="34" charset="0"/>
                <a:cs typeface="Calibri" panose="020F0502020204030204" pitchFamily="34" charset="0"/>
              </a:rPr>
              <a:t>Zero Trust </a:t>
            </a:r>
          </a:p>
          <a:p>
            <a:pPr marL="342900" indent="-342900" algn="r" rtl="1">
              <a:lnSpc>
                <a:spcPct val="150000"/>
              </a:lnSpc>
              <a:buFont typeface="Arial" panose="020B0604020202020204" pitchFamily="34" charset="0"/>
              <a:buChar char="•"/>
            </a:pPr>
            <a:r>
              <a:rPr lang="ar-AE" sz="2400" dirty="0" smtClean="0">
                <a:latin typeface="Calibri" panose="020F0502020204030204" pitchFamily="34" charset="0"/>
                <a:ea typeface="Calibri" panose="020F0502020204030204" pitchFamily="34" charset="0"/>
                <a:cs typeface="Calibri" panose="020F0502020204030204" pitchFamily="34" charset="0"/>
              </a:rPr>
              <a:t>التحكم الكامل بالجلسات</a:t>
            </a:r>
          </a:p>
          <a:p>
            <a:pPr marL="342900" indent="-342900" algn="r" rtl="1">
              <a:lnSpc>
                <a:spcPct val="150000"/>
              </a:lnSpc>
              <a:buFont typeface="Arial" panose="020B0604020202020204" pitchFamily="34" charset="0"/>
              <a:buChar char="•"/>
            </a:pPr>
            <a:r>
              <a:rPr lang="ar-AE" sz="2400" dirty="0" smtClean="0">
                <a:latin typeface="Calibri" panose="020F0502020204030204" pitchFamily="34" charset="0"/>
                <a:ea typeface="Calibri" panose="020F0502020204030204" pitchFamily="34" charset="0"/>
                <a:cs typeface="Calibri" panose="020F0502020204030204" pitchFamily="34" charset="0"/>
              </a:rPr>
              <a:t>نجاح المصادقة المستمرة</a:t>
            </a:r>
          </a:p>
          <a:p>
            <a:pPr marL="342900" indent="-342900" algn="r" rtl="1">
              <a:lnSpc>
                <a:spcPct val="150000"/>
              </a:lnSpc>
              <a:buFont typeface="Arial" panose="020B0604020202020204" pitchFamily="34" charset="0"/>
              <a:buChar char="•"/>
            </a:pPr>
            <a:r>
              <a:rPr lang="ar-AE" sz="2400" dirty="0" smtClean="0">
                <a:latin typeface="Calibri" panose="020F0502020204030204" pitchFamily="34" charset="0"/>
                <a:ea typeface="Calibri" panose="020F0502020204030204" pitchFamily="34" charset="0"/>
                <a:cs typeface="Calibri" panose="020F0502020204030204" pitchFamily="34" charset="0"/>
              </a:rPr>
              <a:t>مقاومة الهجمات الشائعة</a:t>
            </a:r>
            <a:endParaRPr lang="ar-AE"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581797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صورة 6" descr="HIAst"/>
          <p:cNvPicPr/>
          <p:nvPr/>
        </p:nvPicPr>
        <p:blipFill>
          <a:blip r:embed="rId2">
            <a:extLst>
              <a:ext uri="{28A0092B-C50C-407E-A947-70E740481C1C}">
                <a14:useLocalDpi xmlns:a14="http://schemas.microsoft.com/office/drawing/2010/main" val="0"/>
              </a:ext>
            </a:extLst>
          </a:blip>
          <a:srcRect/>
          <a:stretch>
            <a:fillRect/>
          </a:stretch>
        </p:blipFill>
        <p:spPr bwMode="auto">
          <a:xfrm>
            <a:off x="210541" y="0"/>
            <a:ext cx="1247036" cy="1283257"/>
          </a:xfrm>
          <a:prstGeom prst="rect">
            <a:avLst/>
          </a:prstGeom>
          <a:gradFill>
            <a:gsLst>
              <a:gs pos="76000">
                <a:schemeClr val="accent2"/>
              </a:gs>
              <a:gs pos="100000">
                <a:schemeClr val="bg2">
                  <a:shade val="98000"/>
                  <a:satMod val="120000"/>
                  <a:lumMod val="98000"/>
                </a:schemeClr>
              </a:gs>
            </a:gsLst>
            <a:lin ang="5400000" scaled="0"/>
          </a:gradFill>
        </p:spPr>
      </p:pic>
      <p:sp>
        <p:nvSpPr>
          <p:cNvPr id="14" name="عنصر نائب لرقم الشريحة 13"/>
          <p:cNvSpPr>
            <a:spLocks noGrp="1"/>
          </p:cNvSpPr>
          <p:nvPr>
            <p:ph type="sldNum" sz="quarter" idx="12"/>
          </p:nvPr>
        </p:nvSpPr>
        <p:spPr/>
        <p:txBody>
          <a:bodyPr/>
          <a:lstStyle/>
          <a:p>
            <a:fld id="{525C70E0-C15F-4ED1-8882-54048B2CF1D5}" type="slidenum">
              <a:rPr lang="en-US" smtClean="0"/>
              <a:t>19</a:t>
            </a:fld>
            <a:endParaRPr lang="en-US"/>
          </a:p>
        </p:txBody>
      </p:sp>
      <p:sp>
        <p:nvSpPr>
          <p:cNvPr id="4" name="مستطيل 3"/>
          <p:cNvSpPr/>
          <p:nvPr/>
        </p:nvSpPr>
        <p:spPr>
          <a:xfrm>
            <a:off x="4129168" y="318462"/>
            <a:ext cx="4392549" cy="646331"/>
          </a:xfrm>
          <a:prstGeom prst="rect">
            <a:avLst/>
          </a:prstGeom>
        </p:spPr>
        <p:txBody>
          <a:bodyPr wrap="none">
            <a:spAutoFit/>
          </a:bodyPr>
          <a:lstStyle/>
          <a:p>
            <a:r>
              <a:rPr lang="ar-AE" sz="3600" b="1" dirty="0" smtClean="0">
                <a:solidFill>
                  <a:srgbClr val="000000"/>
                </a:solidFill>
                <a:latin typeface="Calibri" panose="020F0502020204030204" pitchFamily="34" charset="0"/>
                <a:ea typeface="Calibri" panose="020F0502020204030204" pitchFamily="34" charset="0"/>
                <a:cs typeface="Calibri" panose="020F0502020204030204" pitchFamily="34" charset="0"/>
              </a:rPr>
              <a:t>الخاتمة والافاق المستقبلية</a:t>
            </a:r>
            <a:endParaRPr lang="en-US" sz="3600" dirty="0">
              <a:latin typeface="Calibri" panose="020F0502020204030204" pitchFamily="34" charset="0"/>
              <a:ea typeface="Calibri" panose="020F0502020204030204" pitchFamily="34" charset="0"/>
              <a:cs typeface="Calibri" panose="020F0502020204030204" pitchFamily="34" charset="0"/>
            </a:endParaRPr>
          </a:p>
        </p:txBody>
      </p:sp>
      <p:pic>
        <p:nvPicPr>
          <p:cNvPr id="8" name="صورة 7"/>
          <p:cNvPicPr>
            <a:picLocks noChangeAspect="1"/>
          </p:cNvPicPr>
          <p:nvPr/>
        </p:nvPicPr>
        <p:blipFill rotWithShape="1">
          <a:blip r:embed="rId3">
            <a:extLst>
              <a:ext uri="{28A0092B-C50C-407E-A947-70E740481C1C}">
                <a14:useLocalDpi xmlns:a14="http://schemas.microsoft.com/office/drawing/2010/main" val="0"/>
              </a:ext>
            </a:extLst>
          </a:blip>
          <a:srcRect l="-1775" t="-1025" r="-1775" b="-1025"/>
          <a:stretch/>
        </p:blipFill>
        <p:spPr>
          <a:xfrm>
            <a:off x="3346156" y="2406311"/>
            <a:ext cx="2475524" cy="2305791"/>
          </a:xfrm>
          <a:prstGeom prst="ellipse">
            <a:avLst/>
          </a:prstGeom>
          <a:ln w="63500" cap="rnd">
            <a:noFill/>
          </a:ln>
          <a:effectLst>
            <a:outerShdw blurRad="381000" dist="292100" dir="5400000" sx="-80000" sy="-18000" rotWithShape="0">
              <a:srgbClr val="000000">
                <a:alpha val="0"/>
              </a:srgbClr>
            </a:outerShdw>
          </a:effectLst>
          <a:scene3d>
            <a:camera prst="orthographicFront"/>
            <a:lightRig rig="contrasting" dir="t">
              <a:rot lat="0" lon="0" rev="3000000"/>
            </a:lightRig>
          </a:scene3d>
          <a:sp3d contourW="7620">
            <a:bevelT w="95250" h="31750"/>
            <a:contourClr>
              <a:srgbClr val="333333"/>
            </a:contourClr>
          </a:sp3d>
        </p:spPr>
      </p:pic>
      <p:pic>
        <p:nvPicPr>
          <p:cNvPr id="2" name="صورة 1"/>
          <p:cNvPicPr>
            <a:picLocks noChangeAspect="1"/>
          </p:cNvPicPr>
          <p:nvPr/>
        </p:nvPicPr>
        <p:blipFill>
          <a:blip r:embed="rId4"/>
          <a:stretch>
            <a:fillRect/>
          </a:stretch>
        </p:blipFill>
        <p:spPr>
          <a:xfrm>
            <a:off x="7376160" y="2406311"/>
            <a:ext cx="2489093" cy="2303018"/>
          </a:xfrm>
          <a:prstGeom prst="ellipse">
            <a:avLst/>
          </a:prstGeom>
          <a:ln w="63500" cap="rnd">
            <a:noFill/>
          </a:ln>
          <a:effectLst>
            <a:outerShdw blurRad="381000" dist="292100" dir="5400000" sx="-80000" sy="-18000" rotWithShape="0">
              <a:schemeClr val="bg1">
                <a:alpha val="22000"/>
              </a:schemeClr>
            </a:outerShdw>
          </a:effectLst>
          <a:scene3d>
            <a:camera prst="orthographicFront"/>
            <a:lightRig rig="contrasting" dir="t">
              <a:rot lat="0" lon="0" rev="3000000"/>
            </a:lightRig>
          </a:scene3d>
          <a:sp3d contourW="7620">
            <a:bevelT w="95250" h="31750"/>
            <a:contourClr>
              <a:srgbClr val="333333"/>
            </a:contourClr>
          </a:sp3d>
        </p:spPr>
      </p:pic>
      <p:sp>
        <p:nvSpPr>
          <p:cNvPr id="3" name="مربع نص 2"/>
          <p:cNvSpPr txBox="1"/>
          <p:nvPr/>
        </p:nvSpPr>
        <p:spPr>
          <a:xfrm>
            <a:off x="7423208" y="4849114"/>
            <a:ext cx="2197017" cy="369332"/>
          </a:xfrm>
          <a:prstGeom prst="rect">
            <a:avLst/>
          </a:prstGeom>
          <a:noFill/>
        </p:spPr>
        <p:txBody>
          <a:bodyPr wrap="square" rtlCol="0">
            <a:spAutoFit/>
          </a:bodyPr>
          <a:lstStyle/>
          <a:p>
            <a:pPr algn="r" rtl="1"/>
            <a:r>
              <a:rPr lang="ar-AE" dirty="0" smtClean="0">
                <a:latin typeface="Calibri" panose="020F0502020204030204" pitchFamily="34" charset="0"/>
                <a:ea typeface="Calibri" panose="020F0502020204030204" pitchFamily="34" charset="0"/>
                <a:cs typeface="Calibri" panose="020F0502020204030204" pitchFamily="34" charset="0"/>
              </a:rPr>
              <a:t>دمج أنظمة </a:t>
            </a:r>
            <a:r>
              <a:rPr lang="en-US" dirty="0" smtClean="0">
                <a:latin typeface="Calibri" panose="020F0502020204030204" pitchFamily="34" charset="0"/>
                <a:ea typeface="Calibri" panose="020F0502020204030204" pitchFamily="34" charset="0"/>
                <a:cs typeface="Calibri" panose="020F0502020204030204" pitchFamily="34" charset="0"/>
              </a:rPr>
              <a:t>IDS</a:t>
            </a:r>
            <a:r>
              <a:rPr lang="ar-AE" dirty="0" smtClean="0">
                <a:latin typeface="Calibri" panose="020F0502020204030204" pitchFamily="34" charset="0"/>
                <a:ea typeface="Calibri" panose="020F0502020204030204" pitchFamily="34" charset="0"/>
                <a:cs typeface="Calibri" panose="020F0502020204030204" pitchFamily="34" charset="0"/>
              </a:rPr>
              <a:t> و </a:t>
            </a:r>
            <a:r>
              <a:rPr lang="en-US" dirty="0" smtClean="0">
                <a:latin typeface="Calibri" panose="020F0502020204030204" pitchFamily="34" charset="0"/>
                <a:ea typeface="Calibri" panose="020F0502020204030204" pitchFamily="34" charset="0"/>
                <a:cs typeface="Calibri" panose="020F0502020204030204" pitchFamily="34" charset="0"/>
              </a:rPr>
              <a:t>SIEM</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1" name="مربع نص 10"/>
          <p:cNvSpPr txBox="1"/>
          <p:nvPr/>
        </p:nvSpPr>
        <p:spPr>
          <a:xfrm>
            <a:off x="3231931" y="4802225"/>
            <a:ext cx="2450495" cy="646331"/>
          </a:xfrm>
          <a:prstGeom prst="rect">
            <a:avLst/>
          </a:prstGeom>
          <a:noFill/>
        </p:spPr>
        <p:txBody>
          <a:bodyPr wrap="square" rtlCol="0">
            <a:spAutoFit/>
          </a:bodyPr>
          <a:lstStyle/>
          <a:p>
            <a:pPr algn="ctr" rtl="1"/>
            <a:r>
              <a:rPr lang="ar-AE" dirty="0" smtClean="0">
                <a:latin typeface="Calibri" panose="020F0502020204030204" pitchFamily="34" charset="0"/>
                <a:ea typeface="Calibri" panose="020F0502020204030204" pitchFamily="34" charset="0"/>
                <a:cs typeface="Calibri" panose="020F0502020204030204" pitchFamily="34" charset="0"/>
              </a:rPr>
              <a:t>توسيع البنية لتشمل بيئات حقيقية أو سحابية</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314471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عنصر نائب لرقم الشريحة 3"/>
          <p:cNvSpPr>
            <a:spLocks noGrp="1"/>
          </p:cNvSpPr>
          <p:nvPr>
            <p:ph type="sldNum" sz="quarter" idx="12"/>
          </p:nvPr>
        </p:nvSpPr>
        <p:spPr/>
        <p:txBody>
          <a:bodyPr/>
          <a:lstStyle/>
          <a:p>
            <a:fld id="{525C70E0-C15F-4ED1-8882-54048B2CF1D5}" type="slidenum">
              <a:rPr lang="en-US" smtClean="0"/>
              <a:t>20</a:t>
            </a:fld>
            <a:endParaRPr lang="en-US" dirty="0"/>
          </a:p>
        </p:txBody>
      </p:sp>
      <p:pic>
        <p:nvPicPr>
          <p:cNvPr id="8" name="صورة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986283329"/>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3066</TotalTime>
  <Words>766</Words>
  <Application>Microsoft Office PowerPoint</Application>
  <PresentationFormat>ملء الشاشة</PresentationFormat>
  <Paragraphs>144</Paragraphs>
  <Slides>20</Slides>
  <Notes>5</Notes>
  <HiddenSlides>0</HiddenSlides>
  <MMClips>0</MMClips>
  <ScaleCrop>false</ScaleCrop>
  <HeadingPairs>
    <vt:vector size="6" baseType="variant">
      <vt:variant>
        <vt:lpstr>الخطوط المستخدمة</vt:lpstr>
      </vt:variant>
      <vt:variant>
        <vt:i4>10</vt:i4>
      </vt:variant>
      <vt:variant>
        <vt:lpstr>نسق</vt:lpstr>
      </vt:variant>
      <vt:variant>
        <vt:i4>1</vt:i4>
      </vt:variant>
      <vt:variant>
        <vt:lpstr>عناوين الشرائح</vt:lpstr>
      </vt:variant>
      <vt:variant>
        <vt:i4>20</vt:i4>
      </vt:variant>
    </vt:vector>
  </HeadingPairs>
  <TitlesOfParts>
    <vt:vector size="31" baseType="lpstr">
      <vt:lpstr>Aldhabi</vt:lpstr>
      <vt:lpstr>Andalus</vt:lpstr>
      <vt:lpstr>Arial</vt:lpstr>
      <vt:lpstr>Calibri</vt:lpstr>
      <vt:lpstr>Century Gothic</vt:lpstr>
      <vt:lpstr>Tahoma</vt:lpstr>
      <vt:lpstr>Times New Roman</vt:lpstr>
      <vt:lpstr>Traditional Arabic</vt:lpstr>
      <vt:lpstr>Wingdings</vt:lpstr>
      <vt:lpstr>Wingdings 3</vt:lpstr>
      <vt:lpstr>Wisp</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Microsoft (C)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في PowerPoint</dc:title>
  <dc:creator>DR.Ahmed Saker 2O14</dc:creator>
  <cp:lastModifiedBy>Rasool</cp:lastModifiedBy>
  <cp:revision>116</cp:revision>
  <dcterms:created xsi:type="dcterms:W3CDTF">2024-09-06T10:54:03Z</dcterms:created>
  <dcterms:modified xsi:type="dcterms:W3CDTF">2025-08-07T12:50:12Z</dcterms:modified>
</cp:coreProperties>
</file>